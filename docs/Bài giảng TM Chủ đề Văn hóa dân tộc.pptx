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notesMasterIdLst>
    <p:notesMasterId r:id="rId11"/>
  </p:notesMasterIdLst>
  <p:sldIdLst>
    <p:sldId id="269" r:id="rId2"/>
    <p:sldId id="256" r:id="rId3"/>
    <p:sldId id="257" r:id="rId4"/>
    <p:sldId id="260" r:id="rId5"/>
    <p:sldId id="258" r:id="rId6"/>
    <p:sldId id="259" r:id="rId7"/>
    <p:sldId id="271" r:id="rId8"/>
    <p:sldId id="270" r:id="rId9"/>
    <p:sldId id="27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45" d="100"/>
          <a:sy n="45" d="100"/>
        </p:scale>
        <p:origin x="99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D0F086-C6A6-4177-85A1-A1B618645BCD}" type="datetimeFigureOut">
              <a:rPr lang="en-US" smtClean="0"/>
              <a:t>5/10/2025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214330-964F-4E56-9D5F-E12671DF30B7}" type="slidenum">
              <a:rPr lang="en-US" smtClean="0"/>
              <a:t>‹#›</a:t>
            </a:fld>
            <a:endParaRPr lang="en-US"/>
          </a:p>
        </p:txBody>
      </p:sp>
    </p:spTree>
    <p:extLst>
      <p:ext uri="{BB962C8B-B14F-4D97-AF65-F5344CB8AC3E}">
        <p14:creationId xmlns:p14="http://schemas.microsoft.com/office/powerpoint/2010/main" val="4202590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214330-964F-4E56-9D5F-E12671DF30B7}" type="slidenum">
              <a:rPr lang="en-US" smtClean="0"/>
              <a:t>8</a:t>
            </a:fld>
            <a:endParaRPr lang="en-US"/>
          </a:p>
        </p:txBody>
      </p:sp>
    </p:spTree>
    <p:extLst>
      <p:ext uri="{BB962C8B-B14F-4D97-AF65-F5344CB8AC3E}">
        <p14:creationId xmlns:p14="http://schemas.microsoft.com/office/powerpoint/2010/main" val="2802089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197F84-9F25-4FDB-959D-59A9A2015841}" type="datetimeFigureOut">
              <a:rPr lang="en-US" smtClean="0"/>
              <a:t>5/10/2025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2CE447-225A-4ACA-8C79-2152211440C9}" type="slidenum">
              <a:rPr lang="en-US" smtClean="0"/>
              <a:t>‹#›</a:t>
            </a:fld>
            <a:endParaRPr lang="en-US"/>
          </a:p>
        </p:txBody>
      </p:sp>
    </p:spTree>
    <p:extLst>
      <p:ext uri="{BB962C8B-B14F-4D97-AF65-F5344CB8AC3E}">
        <p14:creationId xmlns:p14="http://schemas.microsoft.com/office/powerpoint/2010/main" val="3193090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197F84-9F25-4FDB-959D-59A9A2015841}" type="datetimeFigureOut">
              <a:rPr lang="en-US" smtClean="0"/>
              <a:t>5/10/2025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2CE447-225A-4ACA-8C79-2152211440C9}" type="slidenum">
              <a:rPr lang="en-US" smtClean="0"/>
              <a:t>‹#›</a:t>
            </a:fld>
            <a:endParaRPr lang="en-US"/>
          </a:p>
        </p:txBody>
      </p:sp>
    </p:spTree>
    <p:extLst>
      <p:ext uri="{BB962C8B-B14F-4D97-AF65-F5344CB8AC3E}">
        <p14:creationId xmlns:p14="http://schemas.microsoft.com/office/powerpoint/2010/main" val="123881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197F84-9F25-4FDB-959D-59A9A2015841}" type="datetimeFigureOut">
              <a:rPr lang="en-US" smtClean="0"/>
              <a:t>5/10/2025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2CE447-225A-4ACA-8C79-2152211440C9}" type="slidenum">
              <a:rPr lang="en-US" smtClean="0"/>
              <a:t>‹#›</a:t>
            </a:fld>
            <a:endParaRPr lang="en-US"/>
          </a:p>
        </p:txBody>
      </p:sp>
    </p:spTree>
    <p:extLst>
      <p:ext uri="{BB962C8B-B14F-4D97-AF65-F5344CB8AC3E}">
        <p14:creationId xmlns:p14="http://schemas.microsoft.com/office/powerpoint/2010/main" val="1183357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9197F84-9F25-4FDB-959D-59A9A2015841}" type="datetimeFigureOut">
              <a:rPr lang="en-US" smtClean="0"/>
              <a:t>5/10/2025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2CE447-225A-4ACA-8C79-2152211440C9}" type="slidenum">
              <a:rPr lang="en-US" smtClean="0"/>
              <a:t>‹#›</a:t>
            </a:fld>
            <a:endParaRPr lang="en-US"/>
          </a:p>
        </p:txBody>
      </p:sp>
    </p:spTree>
    <p:extLst>
      <p:ext uri="{BB962C8B-B14F-4D97-AF65-F5344CB8AC3E}">
        <p14:creationId xmlns:p14="http://schemas.microsoft.com/office/powerpoint/2010/main" val="1871448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197F84-9F25-4FDB-959D-59A9A2015841}" type="datetimeFigureOut">
              <a:rPr lang="en-US" smtClean="0"/>
              <a:t>5/10/2025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2CE447-225A-4ACA-8C79-2152211440C9}" type="slidenum">
              <a:rPr lang="en-US" smtClean="0"/>
              <a:t>‹#›</a:t>
            </a:fld>
            <a:endParaRPr lang="en-US"/>
          </a:p>
        </p:txBody>
      </p:sp>
    </p:spTree>
    <p:extLst>
      <p:ext uri="{BB962C8B-B14F-4D97-AF65-F5344CB8AC3E}">
        <p14:creationId xmlns:p14="http://schemas.microsoft.com/office/powerpoint/2010/main" val="1124455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9197F84-9F25-4FDB-959D-59A9A2015841}" type="datetimeFigureOut">
              <a:rPr lang="en-US" smtClean="0"/>
              <a:t>5/10/2025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D2CE447-225A-4ACA-8C79-2152211440C9}" type="slidenum">
              <a:rPr lang="en-US" smtClean="0"/>
              <a:t>‹#›</a:t>
            </a:fld>
            <a:endParaRPr lang="en-US"/>
          </a:p>
        </p:txBody>
      </p:sp>
    </p:spTree>
    <p:extLst>
      <p:ext uri="{BB962C8B-B14F-4D97-AF65-F5344CB8AC3E}">
        <p14:creationId xmlns:p14="http://schemas.microsoft.com/office/powerpoint/2010/main" val="2770431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197F84-9F25-4FDB-959D-59A9A2015841}" type="datetimeFigureOut">
              <a:rPr lang="en-US" smtClean="0"/>
              <a:t>5/10/2025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D2CE447-225A-4ACA-8C79-2152211440C9}" type="slidenum">
              <a:rPr lang="en-US" smtClean="0"/>
              <a:t>‹#›</a:t>
            </a:fld>
            <a:endParaRPr lang="en-US"/>
          </a:p>
        </p:txBody>
      </p:sp>
    </p:spTree>
    <p:extLst>
      <p:ext uri="{BB962C8B-B14F-4D97-AF65-F5344CB8AC3E}">
        <p14:creationId xmlns:p14="http://schemas.microsoft.com/office/powerpoint/2010/main" val="3454409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197F84-9F25-4FDB-959D-59A9A2015841}" type="datetimeFigureOut">
              <a:rPr lang="en-US" smtClean="0"/>
              <a:t>5/10/2025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2CE447-225A-4ACA-8C79-2152211440C9}" type="slidenum">
              <a:rPr lang="en-US" smtClean="0"/>
              <a:t>‹#›</a:t>
            </a:fld>
            <a:endParaRPr lang="en-US"/>
          </a:p>
        </p:txBody>
      </p:sp>
    </p:spTree>
    <p:extLst>
      <p:ext uri="{BB962C8B-B14F-4D97-AF65-F5344CB8AC3E}">
        <p14:creationId xmlns:p14="http://schemas.microsoft.com/office/powerpoint/2010/main" val="3331274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2CE447-225A-4ACA-8C79-2152211440C9}" type="slidenum">
              <a:rPr lang="en-US" smtClean="0"/>
              <a:t>‹#›</a:t>
            </a:fld>
            <a:endParaRPr lang="en-US"/>
          </a:p>
        </p:txBody>
      </p:sp>
      <p:sp>
        <p:nvSpPr>
          <p:cNvPr id="5" name="Date Placeholder 4"/>
          <p:cNvSpPr>
            <a:spLocks noGrp="1"/>
          </p:cNvSpPr>
          <p:nvPr>
            <p:ph type="dt" sz="half" idx="10"/>
          </p:nvPr>
        </p:nvSpPr>
        <p:spPr/>
        <p:txBody>
          <a:bodyPr/>
          <a:lstStyle/>
          <a:p>
            <a:fld id="{49197F84-9F25-4FDB-959D-59A9A2015841}" type="datetimeFigureOut">
              <a:rPr lang="en-US" smtClean="0"/>
              <a:t>5/10/2025</a:t>
            </a:fld>
            <a:endParaRPr lang="en-US"/>
          </a:p>
        </p:txBody>
      </p:sp>
    </p:spTree>
    <p:extLst>
      <p:ext uri="{BB962C8B-B14F-4D97-AF65-F5344CB8AC3E}">
        <p14:creationId xmlns:p14="http://schemas.microsoft.com/office/powerpoint/2010/main" val="1082747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197F84-9F25-4FDB-959D-59A9A2015841}" type="datetimeFigureOut">
              <a:rPr lang="en-US" smtClean="0"/>
              <a:t>5/10/2025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2CE447-225A-4ACA-8C79-2152211440C9}" type="slidenum">
              <a:rPr lang="en-US" smtClean="0"/>
              <a:t>‹#›</a:t>
            </a:fld>
            <a:endParaRPr lang="en-US"/>
          </a:p>
        </p:txBody>
      </p:sp>
    </p:spTree>
    <p:extLst>
      <p:ext uri="{BB962C8B-B14F-4D97-AF65-F5344CB8AC3E}">
        <p14:creationId xmlns:p14="http://schemas.microsoft.com/office/powerpoint/2010/main" val="1783876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197F84-9F25-4FDB-959D-59A9A2015841}" type="datetimeFigureOut">
              <a:rPr lang="en-US" smtClean="0"/>
              <a:t>5/10/2025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2CE447-225A-4ACA-8C79-2152211440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51024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197F84-9F25-4FDB-959D-59A9A2015841}" type="datetimeFigureOut">
              <a:rPr lang="en-US" smtClean="0"/>
              <a:t>5/10/2025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2CE447-225A-4ACA-8C79-2152211440C9}" type="slidenum">
              <a:rPr lang="en-US" smtClean="0"/>
              <a:t>‹#›</a:t>
            </a:fld>
            <a:endParaRPr lang="en-US"/>
          </a:p>
        </p:txBody>
      </p:sp>
    </p:spTree>
    <p:extLst>
      <p:ext uri="{BB962C8B-B14F-4D97-AF65-F5344CB8AC3E}">
        <p14:creationId xmlns:p14="http://schemas.microsoft.com/office/powerpoint/2010/main" val="8211429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197F84-9F25-4FDB-959D-59A9A2015841}" type="datetimeFigureOut">
              <a:rPr lang="en-US" smtClean="0"/>
              <a:t>5/10/2025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2CE447-225A-4ACA-8C79-2152211440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29084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197F84-9F25-4FDB-959D-59A9A2015841}" type="datetimeFigureOut">
              <a:rPr lang="en-US" smtClean="0"/>
              <a:t>5/10/2025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2CE447-225A-4ACA-8C79-2152211440C9}" type="slidenum">
              <a:rPr lang="en-US" smtClean="0"/>
              <a:t>‹#›</a:t>
            </a:fld>
            <a:endParaRPr lang="en-US"/>
          </a:p>
        </p:txBody>
      </p:sp>
    </p:spTree>
    <p:extLst>
      <p:ext uri="{BB962C8B-B14F-4D97-AF65-F5344CB8AC3E}">
        <p14:creationId xmlns:p14="http://schemas.microsoft.com/office/powerpoint/2010/main" val="40149204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197F84-9F25-4FDB-959D-59A9A2015841}" type="datetimeFigureOut">
              <a:rPr lang="en-US" smtClean="0"/>
              <a:t>5/10/2025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2CE447-225A-4ACA-8C79-2152211440C9}" type="slidenum">
              <a:rPr lang="en-US" smtClean="0"/>
              <a:t>‹#›</a:t>
            </a:fld>
            <a:endParaRPr lang="en-US"/>
          </a:p>
        </p:txBody>
      </p:sp>
    </p:spTree>
    <p:extLst>
      <p:ext uri="{BB962C8B-B14F-4D97-AF65-F5344CB8AC3E}">
        <p14:creationId xmlns:p14="http://schemas.microsoft.com/office/powerpoint/2010/main" val="17469979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197F84-9F25-4FDB-959D-59A9A2015841}" type="datetimeFigureOut">
              <a:rPr lang="en-US" smtClean="0"/>
              <a:t>5/10/2025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2CE447-225A-4ACA-8C79-2152211440C9}" type="slidenum">
              <a:rPr lang="en-US" smtClean="0"/>
              <a:t>‹#›</a:t>
            </a:fld>
            <a:endParaRPr lang="en-US"/>
          </a:p>
        </p:txBody>
      </p:sp>
    </p:spTree>
    <p:extLst>
      <p:ext uri="{BB962C8B-B14F-4D97-AF65-F5344CB8AC3E}">
        <p14:creationId xmlns:p14="http://schemas.microsoft.com/office/powerpoint/2010/main" val="2448443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9197F84-9F25-4FDB-959D-59A9A2015841}" type="datetimeFigureOut">
              <a:rPr lang="en-US" smtClean="0"/>
              <a:t>5/10/2025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D2CE447-225A-4ACA-8C79-2152211440C9}" type="slidenum">
              <a:rPr lang="en-US" smtClean="0"/>
              <a:t>‹#›</a:t>
            </a:fld>
            <a:endParaRPr lang="en-US"/>
          </a:p>
        </p:txBody>
      </p:sp>
    </p:spTree>
    <p:extLst>
      <p:ext uri="{BB962C8B-B14F-4D97-AF65-F5344CB8AC3E}">
        <p14:creationId xmlns:p14="http://schemas.microsoft.com/office/powerpoint/2010/main" val="1715039713"/>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application&#10;&#10;Description automatically generated">
            <a:extLst>
              <a:ext uri="{FF2B5EF4-FFF2-40B4-BE49-F238E27FC236}">
                <a16:creationId xmlns:a16="http://schemas.microsoft.com/office/drawing/2014/main" id="{A3ADA7B7-2181-C5D3-29B3-B0AD81D69E2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8554"/>
          <a:stretch/>
        </p:blipFill>
        <p:spPr>
          <a:xfrm>
            <a:off x="-55052" y="-267292"/>
            <a:ext cx="12191980" cy="6856718"/>
          </a:xfrm>
          <a:prstGeom prst="rect">
            <a:avLst/>
          </a:prstGeom>
        </p:spPr>
      </p:pic>
      <p:pic>
        <p:nvPicPr>
          <p:cNvPr id="5" name="Picture 4" descr="Diagram&#10;&#10;Description automatically generated">
            <a:extLst>
              <a:ext uri="{FF2B5EF4-FFF2-40B4-BE49-F238E27FC236}">
                <a16:creationId xmlns:a16="http://schemas.microsoft.com/office/drawing/2014/main" id="{2C31C513-E6A6-D236-0E00-44C720DDBBDF}"/>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9984" b="93048" l="9994" r="89942">
                        <a14:foregroundMark x1="40589" y1="92199" x2="39327" y2="87874"/>
                        <a14:foregroundMark x1="69049" y1="93048" x2="69049" y2="92603"/>
                      </a14:backgroundRemoval>
                    </a14:imgEffect>
                  </a14:imgLayer>
                </a14:imgProps>
              </a:ext>
              <a:ext uri="{28A0092B-C50C-407E-A947-70E740481C1C}">
                <a14:useLocalDpi xmlns:a14="http://schemas.microsoft.com/office/drawing/2010/main" val="0"/>
              </a:ext>
            </a:extLst>
          </a:blip>
          <a:stretch>
            <a:fillRect/>
          </a:stretch>
        </p:blipFill>
        <p:spPr>
          <a:xfrm>
            <a:off x="7660968" y="3792794"/>
            <a:ext cx="5702095" cy="3504082"/>
          </a:xfrm>
          <a:prstGeom prst="rect">
            <a:avLst/>
          </a:prstGeom>
        </p:spPr>
      </p:pic>
      <p:pic>
        <p:nvPicPr>
          <p:cNvPr id="6" name="Picture 23">
            <a:extLst>
              <a:ext uri="{FF2B5EF4-FFF2-40B4-BE49-F238E27FC236}">
                <a16:creationId xmlns:a16="http://schemas.microsoft.com/office/drawing/2014/main" id="{D37E2D2F-621D-1167-6C8E-AB4C952A86E1}"/>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5683244" y="1654199"/>
            <a:ext cx="5889521" cy="2809568"/>
          </a:xfrm>
          <a:prstGeom prst="rect">
            <a:avLst/>
          </a:prstGeom>
        </p:spPr>
      </p:pic>
      <p:sp>
        <p:nvSpPr>
          <p:cNvPr id="9" name="TextBox 8">
            <a:extLst>
              <a:ext uri="{FF2B5EF4-FFF2-40B4-BE49-F238E27FC236}">
                <a16:creationId xmlns:a16="http://schemas.microsoft.com/office/drawing/2014/main" id="{9ED1F8E5-5C1B-22F8-58A9-621553C89DD7}"/>
              </a:ext>
            </a:extLst>
          </p:cNvPr>
          <p:cNvSpPr txBox="1"/>
          <p:nvPr/>
        </p:nvSpPr>
        <p:spPr>
          <a:xfrm>
            <a:off x="5695335" y="2268682"/>
            <a:ext cx="5314337" cy="1200329"/>
          </a:xfrm>
          <a:prstGeom prst="rect">
            <a:avLst/>
          </a:prstGeom>
          <a:noFill/>
        </p:spPr>
        <p:txBody>
          <a:bodyPr wrap="square">
            <a:spAutoFit/>
          </a:bodyPr>
          <a:lstStyle/>
          <a:p>
            <a:pPr lvl="0" algn="ctr"/>
            <a:r>
              <a:rPr lang="en-US" sz="3600" b="1" dirty="0">
                <a:solidFill>
                  <a:srgbClr val="0070C0"/>
                </a:solidFill>
                <a:latin typeface="Calibri" panose="020F0502020204030204" pitchFamily="34" charset="0"/>
                <a:ea typeface="Calibri" panose="020F0502020204030204" pitchFamily="34" charset="0"/>
                <a:cs typeface="Calibri" panose="020F0502020204030204" pitchFamily="34" charset="0"/>
              </a:rPr>
              <a:t>Chia </a:t>
            </a:r>
            <a:r>
              <a:rPr lang="en-US" sz="3600" b="1" dirty="0" err="1">
                <a:solidFill>
                  <a:srgbClr val="0070C0"/>
                </a:solidFill>
                <a:latin typeface="Calibri" panose="020F0502020204030204" pitchFamily="34" charset="0"/>
                <a:ea typeface="Calibri" panose="020F0502020204030204" pitchFamily="34" charset="0"/>
                <a:cs typeface="Calibri" panose="020F0502020204030204" pitchFamily="34" charset="0"/>
              </a:rPr>
              <a:t>sẻ</a:t>
            </a:r>
            <a:r>
              <a:rPr lang="en-US" sz="3600" b="1" dirty="0">
                <a:solidFill>
                  <a:srgbClr val="0070C0"/>
                </a:solidFill>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0070C0"/>
                </a:solidFill>
                <a:latin typeface="Calibri" panose="020F0502020204030204" pitchFamily="34" charset="0"/>
                <a:ea typeface="Calibri" panose="020F0502020204030204" pitchFamily="34" charset="0"/>
                <a:cs typeface="Calibri" panose="020F0502020204030204" pitchFamily="34" charset="0"/>
              </a:rPr>
              <a:t>với</a:t>
            </a:r>
            <a:r>
              <a:rPr lang="en-US" sz="3600" b="1" dirty="0">
                <a:solidFill>
                  <a:srgbClr val="0070C0"/>
                </a:solidFill>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0070C0"/>
                </a:solidFill>
                <a:latin typeface="Calibri" panose="020F0502020204030204" pitchFamily="34" charset="0"/>
                <a:ea typeface="Calibri" panose="020F0502020204030204" pitchFamily="34" charset="0"/>
                <a:cs typeface="Calibri" panose="020F0502020204030204" pitchFamily="34" charset="0"/>
              </a:rPr>
              <a:t>bạn</a:t>
            </a:r>
            <a:r>
              <a:rPr lang="en-US" sz="3600" b="1" dirty="0">
                <a:solidFill>
                  <a:srgbClr val="0070C0"/>
                </a:solidFill>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0070C0"/>
                </a:solidFill>
                <a:latin typeface="Calibri" panose="020F0502020204030204" pitchFamily="34" charset="0"/>
                <a:ea typeface="Calibri" panose="020F0502020204030204" pitchFamily="34" charset="0"/>
                <a:cs typeface="Calibri" panose="020F0502020204030204" pitchFamily="34" charset="0"/>
              </a:rPr>
              <a:t>và</a:t>
            </a:r>
            <a:r>
              <a:rPr lang="en-US" sz="3600" b="1" dirty="0">
                <a:solidFill>
                  <a:srgbClr val="0070C0"/>
                </a:solidFill>
                <a:latin typeface="Calibri" panose="020F0502020204030204" pitchFamily="34" charset="0"/>
                <a:ea typeface="Calibri" panose="020F0502020204030204" pitchFamily="34" charset="0"/>
                <a:cs typeface="Calibri" panose="020F0502020204030204" pitchFamily="34" charset="0"/>
              </a:rPr>
              <a:t> ng</a:t>
            </a:r>
            <a:r>
              <a:rPr lang="vi-VN" sz="3600" b="1" dirty="0">
                <a:solidFill>
                  <a:srgbClr val="0070C0"/>
                </a:solidFill>
                <a:latin typeface="Calibri" panose="020F0502020204030204" pitchFamily="34" charset="0"/>
                <a:ea typeface="Calibri" panose="020F0502020204030204" pitchFamily="34" charset="0"/>
                <a:cs typeface="Calibri" panose="020F0502020204030204" pitchFamily="34" charset="0"/>
              </a:rPr>
              <a:t>ười</a:t>
            </a:r>
            <a:r>
              <a:rPr lang="en-US" sz="3600" b="1" dirty="0">
                <a:solidFill>
                  <a:srgbClr val="0070C0"/>
                </a:solidFill>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0070C0"/>
                </a:solidFill>
                <a:latin typeface="Calibri" panose="020F0502020204030204" pitchFamily="34" charset="0"/>
                <a:ea typeface="Calibri" panose="020F0502020204030204" pitchFamily="34" charset="0"/>
                <a:cs typeface="Calibri" panose="020F0502020204030204" pitchFamily="34" charset="0"/>
              </a:rPr>
              <a:t>thân</a:t>
            </a:r>
            <a:endParaRPr kumimoji="0" lang="en-US" sz="3600" b="1"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10" name="Picture 18">
            <a:extLst>
              <a:ext uri="{FF2B5EF4-FFF2-40B4-BE49-F238E27FC236}">
                <a16:creationId xmlns:a16="http://schemas.microsoft.com/office/drawing/2014/main" id="{E3998B24-5F44-FEEC-0E6A-267892018B17}"/>
              </a:ext>
            </a:extLst>
          </p:cNvPr>
          <p:cNvPicPr>
            <a:picLocks noChangeAspect="1"/>
          </p:cNvPicPr>
          <p:nvPr/>
        </p:nvPicPr>
        <p:blipFill>
          <a:blip r:embed="rId7"/>
          <a:srcRect/>
          <a:stretch>
            <a:fillRect/>
          </a:stretch>
        </p:blipFill>
        <p:spPr>
          <a:xfrm>
            <a:off x="1801762" y="320150"/>
            <a:ext cx="4011561" cy="2415050"/>
          </a:xfrm>
          <a:prstGeom prst="rect">
            <a:avLst/>
          </a:prstGeom>
        </p:spPr>
      </p:pic>
      <p:pic>
        <p:nvPicPr>
          <p:cNvPr id="11" name="Picture 18">
            <a:extLst>
              <a:ext uri="{FF2B5EF4-FFF2-40B4-BE49-F238E27FC236}">
                <a16:creationId xmlns:a16="http://schemas.microsoft.com/office/drawing/2014/main" id="{D4FD200B-56B4-4E3D-ACF1-3533510DBAE2}"/>
              </a:ext>
            </a:extLst>
          </p:cNvPr>
          <p:cNvPicPr>
            <a:picLocks noChangeAspect="1"/>
          </p:cNvPicPr>
          <p:nvPr/>
        </p:nvPicPr>
        <p:blipFill>
          <a:blip r:embed="rId7"/>
          <a:srcRect/>
          <a:stretch>
            <a:fillRect/>
          </a:stretch>
        </p:blipFill>
        <p:spPr>
          <a:xfrm>
            <a:off x="112973" y="3161067"/>
            <a:ext cx="5570271" cy="3695651"/>
          </a:xfrm>
          <a:prstGeom prst="rect">
            <a:avLst/>
          </a:prstGeom>
        </p:spPr>
      </p:pic>
      <p:sp>
        <p:nvSpPr>
          <p:cNvPr id="13" name="TextBox 12">
            <a:extLst>
              <a:ext uri="{FF2B5EF4-FFF2-40B4-BE49-F238E27FC236}">
                <a16:creationId xmlns:a16="http://schemas.microsoft.com/office/drawing/2014/main" id="{0CD09BD1-F038-8139-28FC-DB7A467FE779}"/>
              </a:ext>
            </a:extLst>
          </p:cNvPr>
          <p:cNvSpPr txBox="1"/>
          <p:nvPr/>
        </p:nvSpPr>
        <p:spPr>
          <a:xfrm>
            <a:off x="2235632" y="1353377"/>
            <a:ext cx="3143819" cy="1200329"/>
          </a:xfrm>
          <a:prstGeom prst="rect">
            <a:avLst/>
          </a:prstGeom>
          <a:noFill/>
        </p:spPr>
        <p:txBody>
          <a:bodyPr wrap="square" rtlCol="0">
            <a:spAutoFit/>
          </a:bodyPr>
          <a:lstStyle/>
          <a:p>
            <a:pPr lvl="0" algn="ctr"/>
            <a:r>
              <a:rPr lang="en-US" sz="3600" dirty="0" err="1">
                <a:solidFill>
                  <a:prstClr val="black"/>
                </a:solidFill>
                <a:latin typeface="Cambria" panose="02040503050406030204" pitchFamily="18" charset="0"/>
                <a:ea typeface="Cambria" panose="02040503050406030204" pitchFamily="18" charset="0"/>
              </a:rPr>
              <a:t>Đôi</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nét</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về</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dân</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tộc</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Mông</a:t>
            </a:r>
            <a:r>
              <a:rPr lang="en-US" sz="3600" dirty="0">
                <a:solidFill>
                  <a:prstClr val="black"/>
                </a:solidFill>
                <a:latin typeface="Cambria" panose="02040503050406030204" pitchFamily="18" charset="0"/>
                <a:ea typeface="Cambria" panose="02040503050406030204" pitchFamily="18" charset="0"/>
              </a:rPr>
              <a:t>.</a:t>
            </a:r>
            <a:endParaRPr kumimoji="0" lang="en-US" sz="36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endParaRPr>
          </a:p>
        </p:txBody>
      </p:sp>
      <p:sp>
        <p:nvSpPr>
          <p:cNvPr id="14" name="TextBox 13">
            <a:extLst>
              <a:ext uri="{FF2B5EF4-FFF2-40B4-BE49-F238E27FC236}">
                <a16:creationId xmlns:a16="http://schemas.microsoft.com/office/drawing/2014/main" id="{04E48FA0-E538-39D2-A730-D2A9E08E580F}"/>
              </a:ext>
            </a:extLst>
          </p:cNvPr>
          <p:cNvSpPr txBox="1"/>
          <p:nvPr/>
        </p:nvSpPr>
        <p:spPr>
          <a:xfrm>
            <a:off x="852744" y="3891613"/>
            <a:ext cx="4090731" cy="1754326"/>
          </a:xfrm>
          <a:prstGeom prst="rect">
            <a:avLst/>
          </a:prstGeom>
          <a:noFill/>
        </p:spPr>
        <p:txBody>
          <a:bodyPr wrap="square" rtlCol="0">
            <a:spAutoFit/>
          </a:bodyPr>
          <a:lstStyle/>
          <a:p>
            <a:pPr lvl="0" algn="ctr"/>
            <a:r>
              <a:rPr lang="en-US" sz="3600" dirty="0">
                <a:solidFill>
                  <a:prstClr val="black"/>
                </a:solidFill>
                <a:latin typeface="Cambria" panose="02040503050406030204" pitchFamily="18" charset="0"/>
                <a:ea typeface="Cambria" panose="02040503050406030204" pitchFamily="18" charset="0"/>
              </a:rPr>
              <a:t>Các </a:t>
            </a:r>
            <a:r>
              <a:rPr lang="en-US" sz="3600" dirty="0" err="1">
                <a:solidFill>
                  <a:prstClr val="black"/>
                </a:solidFill>
                <a:latin typeface="Cambria" panose="02040503050406030204" pitchFamily="18" charset="0"/>
                <a:ea typeface="Cambria" panose="02040503050406030204" pitchFamily="18" charset="0"/>
              </a:rPr>
              <a:t>loại</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nhạc</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cụ</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dân</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tộc</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Mông</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th</a:t>
            </a:r>
            <a:r>
              <a:rPr lang="vi-VN" sz="3600" dirty="0">
                <a:solidFill>
                  <a:prstClr val="black"/>
                </a:solidFill>
                <a:latin typeface="Cambria" panose="02040503050406030204" pitchFamily="18" charset="0"/>
                <a:ea typeface="Cambria" panose="02040503050406030204" pitchFamily="18" charset="0"/>
              </a:rPr>
              <a:t>ường</a:t>
            </a:r>
            <a:r>
              <a:rPr lang="en-US" sz="3600" dirty="0">
                <a:solidFill>
                  <a:prstClr val="black"/>
                </a:solidFill>
                <a:latin typeface="Cambria" panose="02040503050406030204" pitchFamily="18" charset="0"/>
                <a:ea typeface="Cambria" panose="02040503050406030204" pitchFamily="18" charset="0"/>
              </a:rPr>
              <a:t> dung.</a:t>
            </a:r>
            <a:endParaRPr kumimoji="0" lang="en-US" sz="36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210BD74E-5AF8-FF8A-20A6-42972E679EBD}"/>
              </a:ext>
            </a:extLst>
          </p:cNvPr>
          <p:cNvSpPr txBox="1"/>
          <p:nvPr/>
        </p:nvSpPr>
        <p:spPr>
          <a:xfrm>
            <a:off x="1162702" y="1506"/>
            <a:ext cx="9674631" cy="584775"/>
          </a:xfrm>
          <a:prstGeom prst="rect">
            <a:avLst/>
          </a:prstGeom>
          <a:noFill/>
        </p:spPr>
        <p:txBody>
          <a:bodyPr wrap="square" rtlCol="0">
            <a:spAutoFit/>
          </a:bodyPr>
          <a:lstStyle/>
          <a:p>
            <a:pPr algn="ctr"/>
            <a:r>
              <a:rPr lang="en-US" sz="3200" b="1"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ÔN TẬP CHỦ ĐỀ 2: VĂN HÓA DÂN TỘC MÔNG</a:t>
            </a:r>
          </a:p>
        </p:txBody>
      </p:sp>
    </p:spTree>
    <p:extLst>
      <p:ext uri="{BB962C8B-B14F-4D97-AF65-F5344CB8AC3E}">
        <p14:creationId xmlns:p14="http://schemas.microsoft.com/office/powerpoint/2010/main" val="37918377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Scale>
                                      <p:cBhvr>
                                        <p:cTn id="7"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6"/>
                                        </p:tgtEl>
                                        <p:attrNameLst>
                                          <p:attrName>ppt_x</p:attrName>
                                          <p:attrName>ppt_y</p:attrName>
                                        </p:attrNameLst>
                                      </p:cBhvr>
                                    </p:animMotion>
                                    <p:animEffect transition="in" filter="fade">
                                      <p:cBhvr>
                                        <p:cTn id="9" dur="1000"/>
                                        <p:tgtEl>
                                          <p:spTgt spid="6"/>
                                        </p:tgtEl>
                                      </p:cBhvr>
                                    </p:animEffect>
                                  </p:childTnLst>
                                </p:cTn>
                              </p:par>
                              <p:par>
                                <p:cTn id="10" presetID="5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Scale>
                                      <p:cBhvr>
                                        <p:cTn id="12" dur="1000" decel="50000" fill="hold">
                                          <p:stCondLst>
                                            <p:cond delay="0"/>
                                          </p:stCondLst>
                                        </p:cTn>
                                        <p:tgtEl>
                                          <p:spTgt spid="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9"/>
                                        </p:tgtEl>
                                        <p:attrNameLst>
                                          <p:attrName>ppt_x</p:attrName>
                                          <p:attrName>ppt_y</p:attrName>
                                        </p:attrNameLst>
                                      </p:cBhvr>
                                    </p:animMotion>
                                    <p:animEffect transition="in" filter="fade">
                                      <p:cBhvr>
                                        <p:cTn id="14" dur="1000"/>
                                        <p:tgtEl>
                                          <p:spTgt spid="9"/>
                                        </p:tgtEl>
                                      </p:cBhvr>
                                    </p:animEffect>
                                  </p:childTnLst>
                                </p:cTn>
                              </p:par>
                              <p:par>
                                <p:cTn id="15" presetID="5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Scale>
                                      <p:cBhvr>
                                        <p:cTn id="17"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5"/>
                                        </p:tgtEl>
                                        <p:attrNameLst>
                                          <p:attrName>ppt_x</p:attrName>
                                          <p:attrName>ppt_y</p:attrName>
                                        </p:attrNameLst>
                                      </p:cBhvr>
                                    </p:animMotion>
                                    <p:animEffect transition="in" filter="fade">
                                      <p:cBhvr>
                                        <p:cTn id="19" dur="10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81F3959-6D6B-C730-84F1-094B79C5CA92}"/>
              </a:ext>
            </a:extLst>
          </p:cNvPr>
          <p:cNvSpPr txBox="1"/>
          <p:nvPr/>
        </p:nvSpPr>
        <p:spPr>
          <a:xfrm>
            <a:off x="592666" y="145511"/>
            <a:ext cx="11006667" cy="6489277"/>
          </a:xfrm>
          <a:prstGeom prst="rect">
            <a:avLst/>
          </a:prstGeom>
          <a:noFill/>
        </p:spPr>
        <p:txBody>
          <a:bodyPr wrap="square">
            <a:spAutoFit/>
          </a:bodyPr>
          <a:lstStyle/>
          <a:p>
            <a:pPr algn="ctr">
              <a:buNone/>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JĂNGX C</a:t>
            </a:r>
            <a:r>
              <a:rPr lang="vi-VN"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ƠƯ</a:t>
            </a: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 </a:t>
            </a:r>
            <a:r>
              <a:rPr lang="vi-VN"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MÊNHX CXƯX HMÔNGZ</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buNone/>
            </a:pPr>
            <a:r>
              <a:rPr lang="vi-V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Hmôngz zaos mênhx cxưx tsơưs nênhs, hâur 54 zangv mênhx cxưx Viêx Nangk. Nênhs Hmôngz muôx tsiz zangv Hmôngz Lênhl, Hmôngz Đơưz, Hmôngz Đuz, Hmôngz Siz, Hmôngz Suô. Nênhs Hmôngz Viêx Nangk muôx 1.068.189 tul nênhs (2009), Hmôngz nax nhaoz chêx tsôngz ntơưv đrôngl trôngz taox saz xênhr Hôx Zangx, Tuênhk Coangk, Laol Caz, Ngangz Paiv, Leiv Tsơưz, Xênhk Lak, Đênhv Bênhk, Thênhk Huôr... </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457200" algn="just">
              <a:buNone/>
            </a:pPr>
            <a:r>
              <a:rPr lang="vi-V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Hmôngz lê tsênhv krâur naox zaos paoz cưk, blêx, chêx. Nênhs Hmôngz zus nhux, nênhl, yik, buô, keiz,… Tul txir nênhx uô tsưr tsêr haz uô têx nuv hnhăngr.Tul pux zus tsax, uô ntuk, uô taz yao... Nênhs Hmôngz lê cangz cêr zaos thôngx xênhv mak tsi zuôr uô pux zơưs. Phênhv ntâu Hmôngz naox tsaz lơưr zênhz lix, tuô buô, tuôr par uô tsaz, ntâuk tux luz, krêz ntênhl grâuk taox. Hmôngz lê tưx sênhr mak muôx ndăngk, trăngx, lưv phưx, ntao bê zaos kênhx. Pux Hmôngz muôx têx thaov taz yao txeix đrâus, laok six jông gâux.</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457200" algn="just">
              <a:buNone/>
            </a:pPr>
            <a:r>
              <a:rPr lang="vi-V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Nênhs Hmôngz gruôs khưr, gruôs uô kôngz lông, nax thoangx chêx đrus cxuô mênhx cxưx cxiv tsang, paor phưv côx chuôz.		</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r">
              <a:lnSpc>
                <a:spcPct val="150000"/>
              </a:lnSpc>
            </a:pPr>
            <a:r>
              <a:rPr lang="vi-VN" sz="24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Nrar sâu: Nguyễn Ngọc Thanh  haz Hoangx Txôngr</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6347356"/>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D9829B-D8C2-F151-54BC-A07C74D85663}"/>
              </a:ext>
            </a:extLst>
          </p:cNvPr>
          <p:cNvSpPr txBox="1"/>
          <p:nvPr/>
        </p:nvSpPr>
        <p:spPr>
          <a:xfrm>
            <a:off x="330200" y="420484"/>
            <a:ext cx="11531600" cy="6124754"/>
          </a:xfrm>
          <a:prstGeom prst="rect">
            <a:avLst/>
          </a:prstGeom>
          <a:noFill/>
        </p:spPr>
        <p:txBody>
          <a:bodyPr wrap="square">
            <a:spAutoFit/>
          </a:bodyPr>
          <a:lstStyle/>
          <a:p>
            <a:pPr indent="457200">
              <a:buNone/>
            </a:pPr>
            <a:r>
              <a:rPr lang="pt-BR"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a:t>
            </a:r>
            <a:r>
              <a:rPr lang="pt-BR"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t>
            </a:r>
            <a:r>
              <a:rPr lang="vi-VN"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ưr</a:t>
            </a: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nôngs</a:t>
            </a: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nhênhv</a:t>
            </a: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jăngx</a:t>
            </a: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400" b="1" i="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Mênhx</a:t>
            </a:r>
            <a:r>
              <a:rPr lang="en-US" sz="24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cxưx</a:t>
            </a:r>
            <a:r>
              <a:rPr lang="en-US" sz="24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i="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Hmôngz</a:t>
            </a:r>
            <a:r>
              <a:rPr lang="en-US" sz="2400" b="1"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pt-BR"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têz têx grei lul nôngs chêx kangz nor.</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buNone/>
            </a:pPr>
            <a:r>
              <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Mênhx cxưx Hmôngz lê tsênhv krâur naox zaos đangz tsi?</a:t>
            </a:r>
          </a:p>
          <a:p>
            <a:pPr>
              <a:buNone/>
            </a:pPr>
            <a:endPar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buNone/>
            </a:pPr>
            <a:endPar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buNone/>
            </a:pPr>
            <a:r>
              <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Nênhs Hmôngz yangx zus têx tul tsax cxu đangz tsi?</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buNone/>
            </a:pPr>
            <a:endPar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buNone/>
            </a:pPr>
            <a:r>
              <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Hâur nênhs Hmôngz luz chuôz thênhx, tul pux uô têx nuv đangz tsi?</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a:buNone/>
            </a:pPr>
            <a:endParaRPr lang="en-US" sz="2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buNone/>
            </a:pPr>
            <a:endPar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buNone/>
            </a:pPr>
            <a:r>
              <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Mênhx cxưx Hmôngz muôx têx zangv tưx sênhr tưs?</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buNone/>
            </a:pPr>
            <a:endPar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buNone/>
            </a:pPr>
            <a:endParaRPr lang="pt-B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buNone/>
            </a:pPr>
            <a:r>
              <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Hnuz naox tsaz, nênhs Hmôngz yangx uô đangz tsi?</a:t>
            </a:r>
          </a:p>
          <a:p>
            <a:pPr>
              <a:buNone/>
            </a:pPr>
            <a:endParaRPr lang="pt-B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buNone/>
            </a:pP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A52C9AF-0859-D04A-0AB9-70FB8AEB39CF}"/>
              </a:ext>
            </a:extLst>
          </p:cNvPr>
          <p:cNvSpPr txBox="1"/>
          <p:nvPr/>
        </p:nvSpPr>
        <p:spPr>
          <a:xfrm>
            <a:off x="567267" y="1661482"/>
            <a:ext cx="9440333" cy="830997"/>
          </a:xfrm>
          <a:prstGeom prst="rect">
            <a:avLst/>
          </a:prstGeom>
          <a:noFill/>
        </p:spPr>
        <p:txBody>
          <a:bodyPr wrap="square" rtlCol="0">
            <a:spAutoFit/>
          </a:bodyPr>
          <a:lstStyle/>
          <a:p>
            <a:r>
              <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TL: Mênhx cxưx Hmôngz lê tsênhv krâur naox zaos </a:t>
            </a:r>
            <a:r>
              <a:rPr lang="vi-V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paoz cưk, blêx, chêx.</a:t>
            </a:r>
            <a:endParaRPr lang="pt-BR"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400" dirty="0"/>
          </a:p>
        </p:txBody>
      </p:sp>
      <p:sp>
        <p:nvSpPr>
          <p:cNvPr id="16" name="TextBox 15">
            <a:extLst>
              <a:ext uri="{FF2B5EF4-FFF2-40B4-BE49-F238E27FC236}">
                <a16:creationId xmlns:a16="http://schemas.microsoft.com/office/drawing/2014/main" id="{C8DA42A9-56D4-EA5B-5CAB-8308E5468710}"/>
              </a:ext>
            </a:extLst>
          </p:cNvPr>
          <p:cNvSpPr txBox="1"/>
          <p:nvPr/>
        </p:nvSpPr>
        <p:spPr>
          <a:xfrm>
            <a:off x="-397933" y="2628780"/>
            <a:ext cx="9914466" cy="907941"/>
          </a:xfrm>
          <a:prstGeom prst="rect">
            <a:avLst/>
          </a:prstGeom>
          <a:noFill/>
        </p:spPr>
        <p:txBody>
          <a:bodyPr wrap="square" rtlCol="0">
            <a:spAutoFit/>
          </a:bodyPr>
          <a:lstStyle/>
          <a:p>
            <a:pPr marL="457200" marR="3810" indent="457200" algn="just">
              <a:spcBef>
                <a:spcPts val="600"/>
              </a:spcBef>
              <a:spcAft>
                <a:spcPts val="600"/>
              </a:spcAft>
              <a:buNone/>
              <a:tabLst>
                <a:tab pos="5850890" algn="r"/>
              </a:tabLst>
            </a:pPr>
            <a:r>
              <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TL: </a:t>
            </a:r>
            <a:r>
              <a:rPr lang="vi-V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Nênhs Hmôngz zus nhux, nênhl, yik, buô, keiz,…</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400" dirty="0"/>
          </a:p>
        </p:txBody>
      </p:sp>
      <p:sp>
        <p:nvSpPr>
          <p:cNvPr id="17" name="TextBox 16">
            <a:extLst>
              <a:ext uri="{FF2B5EF4-FFF2-40B4-BE49-F238E27FC236}">
                <a16:creationId xmlns:a16="http://schemas.microsoft.com/office/drawing/2014/main" id="{3C2F5F88-1C7E-DCB2-BB77-993C8435CB46}"/>
              </a:ext>
            </a:extLst>
          </p:cNvPr>
          <p:cNvSpPr txBox="1"/>
          <p:nvPr/>
        </p:nvSpPr>
        <p:spPr>
          <a:xfrm>
            <a:off x="-397933" y="3409721"/>
            <a:ext cx="12429066" cy="1200329"/>
          </a:xfrm>
          <a:prstGeom prst="rect">
            <a:avLst/>
          </a:prstGeom>
          <a:noFill/>
        </p:spPr>
        <p:txBody>
          <a:bodyPr wrap="square" rtlCol="0">
            <a:spAutoFit/>
          </a:bodyPr>
          <a:lstStyle/>
          <a:p>
            <a:pPr marL="457200" marR="3810" indent="457200" algn="just">
              <a:spcBef>
                <a:spcPts val="600"/>
              </a:spcBef>
              <a:buNone/>
              <a:tabLst>
                <a:tab pos="5850890" algn="r"/>
              </a:tabLst>
            </a:pPr>
            <a:r>
              <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TL: Hâur nênhs Hmôngz luz chuôz thênhx, tul pux uô têx nuv </a:t>
            </a:r>
            <a:r>
              <a:rPr lang="vi-V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zus tsax, uô ntuk, uô taz yao...</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400" dirty="0"/>
          </a:p>
        </p:txBody>
      </p:sp>
      <p:sp>
        <p:nvSpPr>
          <p:cNvPr id="18" name="TextBox 17">
            <a:extLst>
              <a:ext uri="{FF2B5EF4-FFF2-40B4-BE49-F238E27FC236}">
                <a16:creationId xmlns:a16="http://schemas.microsoft.com/office/drawing/2014/main" id="{A5D04D36-89CB-080E-E7D9-69B80F49CAA2}"/>
              </a:ext>
            </a:extLst>
          </p:cNvPr>
          <p:cNvSpPr txBox="1"/>
          <p:nvPr/>
        </p:nvSpPr>
        <p:spPr>
          <a:xfrm>
            <a:off x="-237066" y="4544688"/>
            <a:ext cx="12429066" cy="1277273"/>
          </a:xfrm>
          <a:prstGeom prst="rect">
            <a:avLst/>
          </a:prstGeom>
          <a:noFill/>
        </p:spPr>
        <p:txBody>
          <a:bodyPr wrap="square" rtlCol="0">
            <a:spAutoFit/>
          </a:bodyPr>
          <a:lstStyle/>
          <a:p>
            <a:pPr marL="457200" marR="3810" indent="457200" algn="just">
              <a:spcAft>
                <a:spcPts val="600"/>
              </a:spcAft>
              <a:buNone/>
              <a:tabLst>
                <a:tab pos="5850890" algn="r"/>
              </a:tabLst>
            </a:pPr>
            <a:r>
              <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TL: Mênhx cxưx Hmôngz muôx têx zangv tưx sênhr: </a:t>
            </a:r>
            <a:r>
              <a:rPr lang="vi-V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ndăngk, trăngx, lưv phưx, ntao bê zaos kênhx.</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400" dirty="0"/>
          </a:p>
        </p:txBody>
      </p:sp>
      <p:sp>
        <p:nvSpPr>
          <p:cNvPr id="19" name="TextBox 18">
            <a:extLst>
              <a:ext uri="{FF2B5EF4-FFF2-40B4-BE49-F238E27FC236}">
                <a16:creationId xmlns:a16="http://schemas.microsoft.com/office/drawing/2014/main" id="{CE92E2E2-1114-7967-3266-D1D00F5A656C}"/>
              </a:ext>
            </a:extLst>
          </p:cNvPr>
          <p:cNvSpPr txBox="1"/>
          <p:nvPr/>
        </p:nvSpPr>
        <p:spPr>
          <a:xfrm>
            <a:off x="-237066" y="5618017"/>
            <a:ext cx="12429066" cy="1277273"/>
          </a:xfrm>
          <a:prstGeom prst="rect">
            <a:avLst/>
          </a:prstGeom>
          <a:noFill/>
        </p:spPr>
        <p:txBody>
          <a:bodyPr wrap="square" rtlCol="0">
            <a:spAutoFit/>
          </a:bodyPr>
          <a:lstStyle/>
          <a:p>
            <a:pPr marL="457200" marR="3810" indent="457200" algn="just">
              <a:spcBef>
                <a:spcPts val="600"/>
              </a:spcBef>
              <a:spcAft>
                <a:spcPts val="600"/>
              </a:spcAft>
              <a:tabLst>
                <a:tab pos="5850890" algn="r"/>
              </a:tabLst>
            </a:pPr>
            <a:r>
              <a:rPr lang="pt-BR"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TL: Hnuz naox tsaz, nênhs Hmôngz yangx </a:t>
            </a:r>
            <a:r>
              <a:rPr lang="vi-V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tuô buô, tuôr par uô tsaz, ntâuk tux luz, krêz ntênhl grâuk taox.</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400" dirty="0"/>
          </a:p>
        </p:txBody>
      </p:sp>
    </p:spTree>
    <p:extLst>
      <p:ext uri="{BB962C8B-B14F-4D97-AF65-F5344CB8AC3E}">
        <p14:creationId xmlns:p14="http://schemas.microsoft.com/office/powerpoint/2010/main" val="29206499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80">
                                          <p:stCondLst>
                                            <p:cond delay="0"/>
                                          </p:stCondLst>
                                        </p:cTn>
                                        <p:tgtEl>
                                          <p:spTgt spid="15"/>
                                        </p:tgtEl>
                                      </p:cBhvr>
                                    </p:animEffect>
                                    <p:anim calcmode="lin" valueType="num">
                                      <p:cBhvr>
                                        <p:cTn id="13"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8" dur="26">
                                          <p:stCondLst>
                                            <p:cond delay="650"/>
                                          </p:stCondLst>
                                        </p:cTn>
                                        <p:tgtEl>
                                          <p:spTgt spid="15"/>
                                        </p:tgtEl>
                                      </p:cBhvr>
                                      <p:to x="100000" y="60000"/>
                                    </p:animScale>
                                    <p:animScale>
                                      <p:cBhvr>
                                        <p:cTn id="19" dur="166" decel="50000">
                                          <p:stCondLst>
                                            <p:cond delay="676"/>
                                          </p:stCondLst>
                                        </p:cTn>
                                        <p:tgtEl>
                                          <p:spTgt spid="15"/>
                                        </p:tgtEl>
                                      </p:cBhvr>
                                      <p:to x="100000" y="100000"/>
                                    </p:animScale>
                                    <p:animScale>
                                      <p:cBhvr>
                                        <p:cTn id="20" dur="26">
                                          <p:stCondLst>
                                            <p:cond delay="1312"/>
                                          </p:stCondLst>
                                        </p:cTn>
                                        <p:tgtEl>
                                          <p:spTgt spid="15"/>
                                        </p:tgtEl>
                                      </p:cBhvr>
                                      <p:to x="100000" y="80000"/>
                                    </p:animScale>
                                    <p:animScale>
                                      <p:cBhvr>
                                        <p:cTn id="21" dur="166" decel="50000">
                                          <p:stCondLst>
                                            <p:cond delay="1338"/>
                                          </p:stCondLst>
                                        </p:cTn>
                                        <p:tgtEl>
                                          <p:spTgt spid="15"/>
                                        </p:tgtEl>
                                      </p:cBhvr>
                                      <p:to x="100000" y="100000"/>
                                    </p:animScale>
                                    <p:animScale>
                                      <p:cBhvr>
                                        <p:cTn id="22" dur="26">
                                          <p:stCondLst>
                                            <p:cond delay="1642"/>
                                          </p:stCondLst>
                                        </p:cTn>
                                        <p:tgtEl>
                                          <p:spTgt spid="15"/>
                                        </p:tgtEl>
                                      </p:cBhvr>
                                      <p:to x="100000" y="90000"/>
                                    </p:animScale>
                                    <p:animScale>
                                      <p:cBhvr>
                                        <p:cTn id="23" dur="166" decel="50000">
                                          <p:stCondLst>
                                            <p:cond delay="1668"/>
                                          </p:stCondLst>
                                        </p:cTn>
                                        <p:tgtEl>
                                          <p:spTgt spid="15"/>
                                        </p:tgtEl>
                                      </p:cBhvr>
                                      <p:to x="100000" y="100000"/>
                                    </p:animScale>
                                    <p:animScale>
                                      <p:cBhvr>
                                        <p:cTn id="24" dur="26">
                                          <p:stCondLst>
                                            <p:cond delay="1808"/>
                                          </p:stCondLst>
                                        </p:cTn>
                                        <p:tgtEl>
                                          <p:spTgt spid="15"/>
                                        </p:tgtEl>
                                      </p:cBhvr>
                                      <p:to x="100000" y="95000"/>
                                    </p:animScale>
                                    <p:animScale>
                                      <p:cBhvr>
                                        <p:cTn id="25" dur="166" decel="50000">
                                          <p:stCondLst>
                                            <p:cond delay="1834"/>
                                          </p:stCondLst>
                                        </p:cTn>
                                        <p:tgtEl>
                                          <p:spTgt spid="15"/>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down)">
                                      <p:cBhvr>
                                        <p:cTn id="30" dur="580">
                                          <p:stCondLst>
                                            <p:cond delay="0"/>
                                          </p:stCondLst>
                                        </p:cTn>
                                        <p:tgtEl>
                                          <p:spTgt spid="16"/>
                                        </p:tgtEl>
                                      </p:cBhvr>
                                    </p:animEffect>
                                    <p:anim calcmode="lin" valueType="num">
                                      <p:cBhvr>
                                        <p:cTn id="31"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36" dur="26">
                                          <p:stCondLst>
                                            <p:cond delay="650"/>
                                          </p:stCondLst>
                                        </p:cTn>
                                        <p:tgtEl>
                                          <p:spTgt spid="16"/>
                                        </p:tgtEl>
                                      </p:cBhvr>
                                      <p:to x="100000" y="60000"/>
                                    </p:animScale>
                                    <p:animScale>
                                      <p:cBhvr>
                                        <p:cTn id="37" dur="166" decel="50000">
                                          <p:stCondLst>
                                            <p:cond delay="676"/>
                                          </p:stCondLst>
                                        </p:cTn>
                                        <p:tgtEl>
                                          <p:spTgt spid="16"/>
                                        </p:tgtEl>
                                      </p:cBhvr>
                                      <p:to x="100000" y="100000"/>
                                    </p:animScale>
                                    <p:animScale>
                                      <p:cBhvr>
                                        <p:cTn id="38" dur="26">
                                          <p:stCondLst>
                                            <p:cond delay="1312"/>
                                          </p:stCondLst>
                                        </p:cTn>
                                        <p:tgtEl>
                                          <p:spTgt spid="16"/>
                                        </p:tgtEl>
                                      </p:cBhvr>
                                      <p:to x="100000" y="80000"/>
                                    </p:animScale>
                                    <p:animScale>
                                      <p:cBhvr>
                                        <p:cTn id="39" dur="166" decel="50000">
                                          <p:stCondLst>
                                            <p:cond delay="1338"/>
                                          </p:stCondLst>
                                        </p:cTn>
                                        <p:tgtEl>
                                          <p:spTgt spid="16"/>
                                        </p:tgtEl>
                                      </p:cBhvr>
                                      <p:to x="100000" y="100000"/>
                                    </p:animScale>
                                    <p:animScale>
                                      <p:cBhvr>
                                        <p:cTn id="40" dur="26">
                                          <p:stCondLst>
                                            <p:cond delay="1642"/>
                                          </p:stCondLst>
                                        </p:cTn>
                                        <p:tgtEl>
                                          <p:spTgt spid="16"/>
                                        </p:tgtEl>
                                      </p:cBhvr>
                                      <p:to x="100000" y="90000"/>
                                    </p:animScale>
                                    <p:animScale>
                                      <p:cBhvr>
                                        <p:cTn id="41" dur="166" decel="50000">
                                          <p:stCondLst>
                                            <p:cond delay="1668"/>
                                          </p:stCondLst>
                                        </p:cTn>
                                        <p:tgtEl>
                                          <p:spTgt spid="16"/>
                                        </p:tgtEl>
                                      </p:cBhvr>
                                      <p:to x="100000" y="100000"/>
                                    </p:animScale>
                                    <p:animScale>
                                      <p:cBhvr>
                                        <p:cTn id="42" dur="26">
                                          <p:stCondLst>
                                            <p:cond delay="1808"/>
                                          </p:stCondLst>
                                        </p:cTn>
                                        <p:tgtEl>
                                          <p:spTgt spid="16"/>
                                        </p:tgtEl>
                                      </p:cBhvr>
                                      <p:to x="100000" y="95000"/>
                                    </p:animScale>
                                    <p:animScale>
                                      <p:cBhvr>
                                        <p:cTn id="43" dur="166" decel="50000">
                                          <p:stCondLst>
                                            <p:cond delay="1834"/>
                                          </p:stCondLst>
                                        </p:cTn>
                                        <p:tgtEl>
                                          <p:spTgt spid="16"/>
                                        </p:tgtEl>
                                      </p:cBhvr>
                                      <p:to x="100000" y="100000"/>
                                    </p:animScale>
                                  </p:childTnLst>
                                </p:cTn>
                              </p:par>
                            </p:childTnLst>
                          </p:cTn>
                        </p:par>
                      </p:childTnLst>
                    </p:cTn>
                  </p:par>
                  <p:par>
                    <p:cTn id="44" fill="hold">
                      <p:stCondLst>
                        <p:cond delay="indefinite"/>
                      </p:stCondLst>
                      <p:childTnLst>
                        <p:par>
                          <p:cTn id="45" fill="hold">
                            <p:stCondLst>
                              <p:cond delay="0"/>
                            </p:stCondLst>
                            <p:childTnLst>
                              <p:par>
                                <p:cTn id="46" presetID="26"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wipe(down)">
                                      <p:cBhvr>
                                        <p:cTn id="48" dur="580">
                                          <p:stCondLst>
                                            <p:cond delay="0"/>
                                          </p:stCondLst>
                                        </p:cTn>
                                        <p:tgtEl>
                                          <p:spTgt spid="17"/>
                                        </p:tgtEl>
                                      </p:cBhvr>
                                    </p:animEffect>
                                    <p:anim calcmode="lin" valueType="num">
                                      <p:cBhvr>
                                        <p:cTn id="49"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50"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51"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52"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53"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54" dur="26">
                                          <p:stCondLst>
                                            <p:cond delay="650"/>
                                          </p:stCondLst>
                                        </p:cTn>
                                        <p:tgtEl>
                                          <p:spTgt spid="17"/>
                                        </p:tgtEl>
                                      </p:cBhvr>
                                      <p:to x="100000" y="60000"/>
                                    </p:animScale>
                                    <p:animScale>
                                      <p:cBhvr>
                                        <p:cTn id="55" dur="166" decel="50000">
                                          <p:stCondLst>
                                            <p:cond delay="676"/>
                                          </p:stCondLst>
                                        </p:cTn>
                                        <p:tgtEl>
                                          <p:spTgt spid="17"/>
                                        </p:tgtEl>
                                      </p:cBhvr>
                                      <p:to x="100000" y="100000"/>
                                    </p:animScale>
                                    <p:animScale>
                                      <p:cBhvr>
                                        <p:cTn id="56" dur="26">
                                          <p:stCondLst>
                                            <p:cond delay="1312"/>
                                          </p:stCondLst>
                                        </p:cTn>
                                        <p:tgtEl>
                                          <p:spTgt spid="17"/>
                                        </p:tgtEl>
                                      </p:cBhvr>
                                      <p:to x="100000" y="80000"/>
                                    </p:animScale>
                                    <p:animScale>
                                      <p:cBhvr>
                                        <p:cTn id="57" dur="166" decel="50000">
                                          <p:stCondLst>
                                            <p:cond delay="1338"/>
                                          </p:stCondLst>
                                        </p:cTn>
                                        <p:tgtEl>
                                          <p:spTgt spid="17"/>
                                        </p:tgtEl>
                                      </p:cBhvr>
                                      <p:to x="100000" y="100000"/>
                                    </p:animScale>
                                    <p:animScale>
                                      <p:cBhvr>
                                        <p:cTn id="58" dur="26">
                                          <p:stCondLst>
                                            <p:cond delay="1642"/>
                                          </p:stCondLst>
                                        </p:cTn>
                                        <p:tgtEl>
                                          <p:spTgt spid="17"/>
                                        </p:tgtEl>
                                      </p:cBhvr>
                                      <p:to x="100000" y="90000"/>
                                    </p:animScale>
                                    <p:animScale>
                                      <p:cBhvr>
                                        <p:cTn id="59" dur="166" decel="50000">
                                          <p:stCondLst>
                                            <p:cond delay="1668"/>
                                          </p:stCondLst>
                                        </p:cTn>
                                        <p:tgtEl>
                                          <p:spTgt spid="17"/>
                                        </p:tgtEl>
                                      </p:cBhvr>
                                      <p:to x="100000" y="100000"/>
                                    </p:animScale>
                                    <p:animScale>
                                      <p:cBhvr>
                                        <p:cTn id="60" dur="26">
                                          <p:stCondLst>
                                            <p:cond delay="1808"/>
                                          </p:stCondLst>
                                        </p:cTn>
                                        <p:tgtEl>
                                          <p:spTgt spid="17"/>
                                        </p:tgtEl>
                                      </p:cBhvr>
                                      <p:to x="100000" y="95000"/>
                                    </p:animScale>
                                    <p:animScale>
                                      <p:cBhvr>
                                        <p:cTn id="61" dur="166" decel="50000">
                                          <p:stCondLst>
                                            <p:cond delay="1834"/>
                                          </p:stCondLst>
                                        </p:cTn>
                                        <p:tgtEl>
                                          <p:spTgt spid="17"/>
                                        </p:tgtEl>
                                      </p:cBhvr>
                                      <p:to x="100000" y="100000"/>
                                    </p:animScale>
                                  </p:childTnLst>
                                </p:cTn>
                              </p:par>
                            </p:childTnLst>
                          </p:cTn>
                        </p:par>
                      </p:childTnLst>
                    </p:cTn>
                  </p:par>
                  <p:par>
                    <p:cTn id="62" fill="hold">
                      <p:stCondLst>
                        <p:cond delay="indefinite"/>
                      </p:stCondLst>
                      <p:childTnLst>
                        <p:par>
                          <p:cTn id="63" fill="hold">
                            <p:stCondLst>
                              <p:cond delay="0"/>
                            </p:stCondLst>
                            <p:childTnLst>
                              <p:par>
                                <p:cTn id="64" presetID="26" presetClass="entr" presetSubtype="0" fill="hold" grpId="0" nodeType="click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wipe(down)">
                                      <p:cBhvr>
                                        <p:cTn id="66" dur="580">
                                          <p:stCondLst>
                                            <p:cond delay="0"/>
                                          </p:stCondLst>
                                        </p:cTn>
                                        <p:tgtEl>
                                          <p:spTgt spid="18"/>
                                        </p:tgtEl>
                                      </p:cBhvr>
                                    </p:animEffect>
                                    <p:anim calcmode="lin" valueType="num">
                                      <p:cBhvr>
                                        <p:cTn id="67"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68"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69"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70"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71"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72" dur="26">
                                          <p:stCondLst>
                                            <p:cond delay="650"/>
                                          </p:stCondLst>
                                        </p:cTn>
                                        <p:tgtEl>
                                          <p:spTgt spid="18"/>
                                        </p:tgtEl>
                                      </p:cBhvr>
                                      <p:to x="100000" y="60000"/>
                                    </p:animScale>
                                    <p:animScale>
                                      <p:cBhvr>
                                        <p:cTn id="73" dur="166" decel="50000">
                                          <p:stCondLst>
                                            <p:cond delay="676"/>
                                          </p:stCondLst>
                                        </p:cTn>
                                        <p:tgtEl>
                                          <p:spTgt spid="18"/>
                                        </p:tgtEl>
                                      </p:cBhvr>
                                      <p:to x="100000" y="100000"/>
                                    </p:animScale>
                                    <p:animScale>
                                      <p:cBhvr>
                                        <p:cTn id="74" dur="26">
                                          <p:stCondLst>
                                            <p:cond delay="1312"/>
                                          </p:stCondLst>
                                        </p:cTn>
                                        <p:tgtEl>
                                          <p:spTgt spid="18"/>
                                        </p:tgtEl>
                                      </p:cBhvr>
                                      <p:to x="100000" y="80000"/>
                                    </p:animScale>
                                    <p:animScale>
                                      <p:cBhvr>
                                        <p:cTn id="75" dur="166" decel="50000">
                                          <p:stCondLst>
                                            <p:cond delay="1338"/>
                                          </p:stCondLst>
                                        </p:cTn>
                                        <p:tgtEl>
                                          <p:spTgt spid="18"/>
                                        </p:tgtEl>
                                      </p:cBhvr>
                                      <p:to x="100000" y="100000"/>
                                    </p:animScale>
                                    <p:animScale>
                                      <p:cBhvr>
                                        <p:cTn id="76" dur="26">
                                          <p:stCondLst>
                                            <p:cond delay="1642"/>
                                          </p:stCondLst>
                                        </p:cTn>
                                        <p:tgtEl>
                                          <p:spTgt spid="18"/>
                                        </p:tgtEl>
                                      </p:cBhvr>
                                      <p:to x="100000" y="90000"/>
                                    </p:animScale>
                                    <p:animScale>
                                      <p:cBhvr>
                                        <p:cTn id="77" dur="166" decel="50000">
                                          <p:stCondLst>
                                            <p:cond delay="1668"/>
                                          </p:stCondLst>
                                        </p:cTn>
                                        <p:tgtEl>
                                          <p:spTgt spid="18"/>
                                        </p:tgtEl>
                                      </p:cBhvr>
                                      <p:to x="100000" y="100000"/>
                                    </p:animScale>
                                    <p:animScale>
                                      <p:cBhvr>
                                        <p:cTn id="78" dur="26">
                                          <p:stCondLst>
                                            <p:cond delay="1808"/>
                                          </p:stCondLst>
                                        </p:cTn>
                                        <p:tgtEl>
                                          <p:spTgt spid="18"/>
                                        </p:tgtEl>
                                      </p:cBhvr>
                                      <p:to x="100000" y="95000"/>
                                    </p:animScale>
                                    <p:animScale>
                                      <p:cBhvr>
                                        <p:cTn id="79" dur="166" decel="50000">
                                          <p:stCondLst>
                                            <p:cond delay="1834"/>
                                          </p:stCondLst>
                                        </p:cTn>
                                        <p:tgtEl>
                                          <p:spTgt spid="18"/>
                                        </p:tgtEl>
                                      </p:cBhvr>
                                      <p:to x="100000" y="100000"/>
                                    </p:animScale>
                                  </p:childTnLst>
                                </p:cTn>
                              </p:par>
                            </p:childTnLst>
                          </p:cTn>
                        </p:par>
                      </p:childTnLst>
                    </p:cTn>
                  </p:par>
                  <p:par>
                    <p:cTn id="80" fill="hold">
                      <p:stCondLst>
                        <p:cond delay="indefinite"/>
                      </p:stCondLst>
                      <p:childTnLst>
                        <p:par>
                          <p:cTn id="81" fill="hold">
                            <p:stCondLst>
                              <p:cond delay="0"/>
                            </p:stCondLst>
                            <p:childTnLst>
                              <p:par>
                                <p:cTn id="82" presetID="26" presetClass="entr" presetSubtype="0" fill="hold" grpId="0" nodeType="click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wipe(down)">
                                      <p:cBhvr>
                                        <p:cTn id="84" dur="580">
                                          <p:stCondLst>
                                            <p:cond delay="0"/>
                                          </p:stCondLst>
                                        </p:cTn>
                                        <p:tgtEl>
                                          <p:spTgt spid="19"/>
                                        </p:tgtEl>
                                      </p:cBhvr>
                                    </p:animEffect>
                                    <p:anim calcmode="lin" valueType="num">
                                      <p:cBhvr>
                                        <p:cTn id="85"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86"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87"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88"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89"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90" dur="26">
                                          <p:stCondLst>
                                            <p:cond delay="650"/>
                                          </p:stCondLst>
                                        </p:cTn>
                                        <p:tgtEl>
                                          <p:spTgt spid="19"/>
                                        </p:tgtEl>
                                      </p:cBhvr>
                                      <p:to x="100000" y="60000"/>
                                    </p:animScale>
                                    <p:animScale>
                                      <p:cBhvr>
                                        <p:cTn id="91" dur="166" decel="50000">
                                          <p:stCondLst>
                                            <p:cond delay="676"/>
                                          </p:stCondLst>
                                        </p:cTn>
                                        <p:tgtEl>
                                          <p:spTgt spid="19"/>
                                        </p:tgtEl>
                                      </p:cBhvr>
                                      <p:to x="100000" y="100000"/>
                                    </p:animScale>
                                    <p:animScale>
                                      <p:cBhvr>
                                        <p:cTn id="92" dur="26">
                                          <p:stCondLst>
                                            <p:cond delay="1312"/>
                                          </p:stCondLst>
                                        </p:cTn>
                                        <p:tgtEl>
                                          <p:spTgt spid="19"/>
                                        </p:tgtEl>
                                      </p:cBhvr>
                                      <p:to x="100000" y="80000"/>
                                    </p:animScale>
                                    <p:animScale>
                                      <p:cBhvr>
                                        <p:cTn id="93" dur="166" decel="50000">
                                          <p:stCondLst>
                                            <p:cond delay="1338"/>
                                          </p:stCondLst>
                                        </p:cTn>
                                        <p:tgtEl>
                                          <p:spTgt spid="19"/>
                                        </p:tgtEl>
                                      </p:cBhvr>
                                      <p:to x="100000" y="100000"/>
                                    </p:animScale>
                                    <p:animScale>
                                      <p:cBhvr>
                                        <p:cTn id="94" dur="26">
                                          <p:stCondLst>
                                            <p:cond delay="1642"/>
                                          </p:stCondLst>
                                        </p:cTn>
                                        <p:tgtEl>
                                          <p:spTgt spid="19"/>
                                        </p:tgtEl>
                                      </p:cBhvr>
                                      <p:to x="100000" y="90000"/>
                                    </p:animScale>
                                    <p:animScale>
                                      <p:cBhvr>
                                        <p:cTn id="95" dur="166" decel="50000">
                                          <p:stCondLst>
                                            <p:cond delay="1668"/>
                                          </p:stCondLst>
                                        </p:cTn>
                                        <p:tgtEl>
                                          <p:spTgt spid="19"/>
                                        </p:tgtEl>
                                      </p:cBhvr>
                                      <p:to x="100000" y="100000"/>
                                    </p:animScale>
                                    <p:animScale>
                                      <p:cBhvr>
                                        <p:cTn id="96" dur="26">
                                          <p:stCondLst>
                                            <p:cond delay="1808"/>
                                          </p:stCondLst>
                                        </p:cTn>
                                        <p:tgtEl>
                                          <p:spTgt spid="19"/>
                                        </p:tgtEl>
                                      </p:cBhvr>
                                      <p:to x="100000" y="95000"/>
                                    </p:animScale>
                                    <p:animScale>
                                      <p:cBhvr>
                                        <p:cTn id="97" dur="166" decel="50000">
                                          <p:stCondLst>
                                            <p:cond delay="1834"/>
                                          </p:stCondLst>
                                        </p:cTn>
                                        <p:tgtEl>
                                          <p:spTgt spid="1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0"/>
      <p:bldP spid="16" grpId="0"/>
      <p:bldP spid="17" grpId="0"/>
      <p:bldP spid="18"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2963F4-9232-6840-32EA-8CE503E4FFEA}"/>
              </a:ext>
            </a:extLst>
          </p:cNvPr>
          <p:cNvSpPr txBox="1"/>
          <p:nvPr/>
        </p:nvSpPr>
        <p:spPr>
          <a:xfrm>
            <a:off x="541867" y="169334"/>
            <a:ext cx="10871200" cy="6001643"/>
          </a:xfrm>
          <a:prstGeom prst="rect">
            <a:avLst/>
          </a:prstGeom>
          <a:noFill/>
        </p:spPr>
        <p:txBody>
          <a:bodyPr wrap="square">
            <a:spAutoFit/>
          </a:bodyPr>
          <a:lstStyle/>
          <a:p>
            <a:pPr algn="ctr">
              <a:buNone/>
            </a:pPr>
            <a:r>
              <a:rPr lang="pt-BR" sz="2400" b="1" dirty="0">
                <a:effectLst/>
                <a:latin typeface="Times New Roman" panose="02020603050405020304" pitchFamily="18" charset="0"/>
                <a:ea typeface="Times New Roman" panose="02020603050405020304" pitchFamily="18" charset="0"/>
                <a:cs typeface="Times New Roman" panose="02020603050405020304" pitchFamily="18" charset="0"/>
              </a:rPr>
              <a:t>ĐHA KÊNHX</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457200" algn="just">
              <a:buNone/>
            </a:pPr>
            <a:r>
              <a:rPr lang="pt-BR" sz="2400" dirty="0">
                <a:effectLst/>
                <a:latin typeface="Times New Roman" panose="02020603050405020304" pitchFamily="18" charset="0"/>
                <a:ea typeface="Times New Roman" panose="02020603050405020304" pitchFamily="18" charset="0"/>
                <a:cs typeface="Times New Roman" panose="02020603050405020304" pitchFamily="18" charset="0"/>
              </a:rPr>
              <a:t>Đha kênhx, zaos Hmôngz lê iz zangv đha uô si. Chêr kênhx tâu uô txix aoz sangz ntông tâu khơưz khôngz hâur plơưr, phênhv sâu zâu, phênhv chêx lux haz muôx iz luz tâuz xưk luz păngx tsơưz. Muôx trâu luz trăngx shôngz tâu đhaok bleik tôngx haz muôx ntir puk. Păng yuôz đhâu têx luz trăngx cao nưl txơưv đraor yênhx suôz lâul, maol, sur uô kâus saz cxuô lênhx nênhs. Kênhx tâu yur haz đha hâur têx ntênhl tuôs, uô đangz uô kruô. Kênhx hax zaos iz zangv tưx sênhr zôngv tru têx cêr vangx luôs uô si, cxuô luz ntênhl lak sik hâuk chơưr. Chaor tôngv txux tangz zaos đha cu tơư, ndơưk tơư,… </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457200" algn="just">
              <a:buNone/>
            </a:pPr>
            <a:r>
              <a:rPr lang="pt-BR" sz="2400" dirty="0">
                <a:effectLst/>
                <a:latin typeface="Times New Roman" panose="02020603050405020304" pitchFamily="18" charset="0"/>
                <a:ea typeface="Times New Roman" panose="02020603050405020304" pitchFamily="18" charset="0"/>
                <a:cs typeface="Times New Roman" panose="02020603050405020304" pitchFamily="18" charset="0"/>
              </a:rPr>
              <a:t>Đha kênhx nhaoz hâur taox mak tangz zaos đha puôs ndis tul ndêx nxêz ndêx nxông. Puôz nênhs đha kênhx laok six cuz saz, tul nor đha tangl pêv tul tsas đha. Đha iz taov tangl mak tul txir taox tsas trâu iz khaoz chơưr tru tul đha kênhx hâuk.</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457200" algn="just">
              <a:buNone/>
            </a:pPr>
            <a:r>
              <a:rPr lang="pt-BR" sz="2400" dirty="0">
                <a:effectLst/>
                <a:latin typeface="Times New Roman" panose="02020603050405020304" pitchFamily="18" charset="0"/>
                <a:ea typeface="Times New Roman" panose="02020603050405020304" pitchFamily="18" charset="0"/>
                <a:cs typeface="Times New Roman" panose="02020603050405020304" pitchFamily="18" charset="0"/>
              </a:rPr>
              <a:t>Đha kênhx zaos Hmôngz li iz zangv vênhx huôv vênhx ziv ntao bê, shix shênhx Hmôngz lê chênhz sênhx tơư têl, iz zangv vênhx ziv tsi txơưx cuôk yuôr hâur Hmôngz luz nênhx.</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457200" algn="just"/>
            <a:r>
              <a:rPr lang="pt-BR"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pt-BR" sz="2400" i="1" dirty="0">
                <a:effectLst/>
                <a:latin typeface="Times New Roman" panose="02020603050405020304" pitchFamily="18" charset="0"/>
                <a:ea typeface="Times New Roman" panose="02020603050405020304" pitchFamily="18" charset="0"/>
                <a:cs typeface="Times New Roman" panose="02020603050405020304" pitchFamily="18" charset="0"/>
              </a:rPr>
              <a:t>     Nrar sâu: Vangx Lênhx</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1101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7327E7-50BB-B9B3-BAB5-978BE1733CAA}"/>
              </a:ext>
            </a:extLst>
          </p:cNvPr>
          <p:cNvSpPr txBox="1"/>
          <p:nvPr/>
        </p:nvSpPr>
        <p:spPr>
          <a:xfrm>
            <a:off x="558800" y="258902"/>
            <a:ext cx="11176000" cy="6278642"/>
          </a:xfrm>
          <a:prstGeom prst="rect">
            <a:avLst/>
          </a:prstGeom>
          <a:noFill/>
        </p:spPr>
        <p:txBody>
          <a:bodyPr wrap="square">
            <a:spAutoFit/>
          </a:bodyPr>
          <a:lstStyle/>
          <a:p>
            <a:pPr marL="36195" algn="ctr">
              <a:buNone/>
            </a:pPr>
            <a:r>
              <a:rPr lang="vi-VN" sz="2800" b="1" dirty="0">
                <a:effectLst/>
                <a:latin typeface="Times New Roman" panose="02020603050405020304" pitchFamily="18" charset="0"/>
                <a:ea typeface="Times New Roman" panose="02020603050405020304" pitchFamily="18" charset="0"/>
                <a:cs typeface="Times New Roman" panose="02020603050405020304" pitchFamily="18" charset="0"/>
              </a:rPr>
              <a:t>NGƯỜI MÔNG Ở TỈNH LÀO CAI</a:t>
            </a: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6195" indent="457200" algn="just">
              <a:spcAft>
                <a:spcPts val="600"/>
              </a:spcAft>
              <a:buNone/>
            </a:pPr>
            <a:r>
              <a:rPr lang="vi-VN" sz="2800" dirty="0">
                <a:effectLst/>
                <a:latin typeface="Times New Roman" panose="02020603050405020304" pitchFamily="18" charset="0"/>
                <a:ea typeface="Times New Roman" panose="02020603050405020304" pitchFamily="18" charset="0"/>
                <a:cs typeface="Times New Roman" panose="02020603050405020304" pitchFamily="18" charset="0"/>
              </a:rPr>
              <a:t>Tỉnh Lào Cai có tám huyện và một thành phố.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Người</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Mông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cư</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trú</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ở: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huyện</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Bắc Hà, Si Ma Cai,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Mường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Khương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Bát</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Xát</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Sa Pa, Bảo Thắng, Bảo Yên, Văn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Bàn</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thành</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phố</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Lào</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Cai.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Lào</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Cai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có</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đủ</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cả</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Mông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Hoa,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Mông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Đen</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Mông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Trắng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Mông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Si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Mông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Xanh.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Dù</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ở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đâu</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người</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Mông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cũng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ở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các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xã</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vùng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cao</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trên</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triền</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núi</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cao</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ruộng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nương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ít</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ở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thành</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thôn</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bản</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hay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là</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ở xen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kẽ</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với</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các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dân</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tộc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Nùng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Dao.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Bây</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giờ</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dân</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số</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quá</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đông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ruộng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nương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không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đủ</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làm</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ăn</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người</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Mông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vùng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cao</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đã</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chuyển</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cư</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một</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số</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xuống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núi</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thuộc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các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huyện</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vùng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thấp</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định</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canh</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định</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cư</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ra</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sức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xây</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dựng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bản</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làng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phát</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triển</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giàu</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đẹp</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6195" indent="457200" algn="just">
              <a:spcAft>
                <a:spcPts val="600"/>
              </a:spcAft>
              <a:buNone/>
            </a:pP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Đồng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bào</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Mông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luôn</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thực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hiện</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tốt</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đường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lối</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chính</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sách</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của</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Đảng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pháp</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luật</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của</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Nhà</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nước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Chung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tay</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xây</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dựng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và</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bảo</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vệ</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cuộc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sống</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nhà</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nhà</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được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hạnh</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phúc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r">
              <a:buNone/>
            </a:pP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i="1" dirty="0" err="1">
                <a:effectLst/>
                <a:latin typeface="Times New Roman" panose="02020603050405020304" pitchFamily="18" charset="0"/>
                <a:ea typeface="Times New Roman" panose="02020603050405020304" pitchFamily="18" charset="0"/>
                <a:cs typeface="Times New Roman" panose="02020603050405020304" pitchFamily="18" charset="0"/>
              </a:rPr>
              <a:t>Sưu</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i="1" dirty="0" err="1">
                <a:effectLst/>
                <a:latin typeface="Times New Roman" panose="02020603050405020304" pitchFamily="18" charset="0"/>
                <a:ea typeface="Times New Roman" panose="02020603050405020304" pitchFamily="18" charset="0"/>
                <a:cs typeface="Times New Roman" panose="02020603050405020304" pitchFamily="18" charset="0"/>
              </a:rPr>
              <a:t>tầm</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i="1" dirty="0" err="1">
                <a:effectLst/>
                <a:latin typeface="Times New Roman" panose="02020603050405020304" pitchFamily="18" charset="0"/>
                <a:ea typeface="Times New Roman" panose="02020603050405020304" pitchFamily="18" charset="0"/>
                <a:cs typeface="Times New Roman" panose="02020603050405020304" pitchFamily="18" charset="0"/>
              </a:rPr>
              <a:t>Vàng</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i="1" dirty="0" err="1">
                <a:effectLst/>
                <a:latin typeface="Times New Roman" panose="02020603050405020304" pitchFamily="18" charset="0"/>
                <a:ea typeface="Times New Roman" panose="02020603050405020304" pitchFamily="18" charset="0"/>
                <a:cs typeface="Times New Roman" panose="02020603050405020304" pitchFamily="18" charset="0"/>
              </a:rPr>
              <a:t>Lềnh</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3408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280AF2F-3469-AD40-E4E9-954598133AF4}"/>
              </a:ext>
            </a:extLst>
          </p:cNvPr>
          <p:cNvSpPr txBox="1"/>
          <p:nvPr/>
        </p:nvSpPr>
        <p:spPr>
          <a:xfrm>
            <a:off x="491066" y="85220"/>
            <a:ext cx="11294533" cy="5634043"/>
          </a:xfrm>
          <a:prstGeom prst="rect">
            <a:avLst/>
          </a:prstGeom>
          <a:noFill/>
        </p:spPr>
        <p:txBody>
          <a:bodyPr wrap="square">
            <a:spAutoFit/>
          </a:bodyPr>
          <a:lstStyle/>
          <a:p>
            <a:pPr algn="ctr">
              <a:buNone/>
            </a:pPr>
            <a:r>
              <a:rPr lang="pt-BR" sz="2800" b="1" dirty="0">
                <a:effectLst/>
                <a:latin typeface="Times New Roman" panose="02020603050405020304" pitchFamily="18" charset="0"/>
                <a:ea typeface="Times New Roman" panose="02020603050405020304" pitchFamily="18" charset="0"/>
                <a:cs typeface="Times New Roman" panose="02020603050405020304" pitchFamily="18" charset="0"/>
              </a:rPr>
              <a:t>HMÔNGZ NHAOZ LAOL CAZ XÊNHR</a:t>
            </a: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457200" algn="just">
              <a:buNone/>
            </a:pPr>
            <a:r>
              <a:rPr lang="pt-BR" sz="2800" dirty="0">
                <a:effectLst/>
                <a:latin typeface="Times New Roman" panose="02020603050405020304" pitchFamily="18" charset="0"/>
                <a:ea typeface="Times New Roman" panose="02020603050405020304" pitchFamily="18" charset="0"/>
                <a:cs typeface="Times New Roman" panose="02020603050405020304" pitchFamily="18" charset="0"/>
              </a:rPr>
              <a:t>Laol Caz xênhr muôx ziv luz shênhv zaos: Muôl Khangz, Xênhz Muôl Caz, Puôv Huôr, Puôv Xuôr, Suôz Puôv, Baov Thăngr, Văngk Bangx, Baov Ênhk haz iz luz nav caz langs Laol Caz. Mênhx cxưx Hmôngz muôx flu nhaoz cxuô luz shênhv. Laol Caz muôx txâuk iz huôv tsiz chês Hmôngz. Nhaoz kreir tưs Hmôngz tưz zaos nhaoz chaor xar taox saz, pêl têx trôngz kruôr lax têz tsơưs, nhaoz yênhx jaol lak sik nhaoz shơư mênhx cxưx Langs, Chu. Nhil nor, jênhx nhênhz chôngz tuôx, têz qơư tsi txâuk uô naox, Hmôngz nhaoz taox saz tưz tsir iz cxa grêl tâus tru chaor shênhv qơư kêl tênhv cênhz tênhv chuôz, sir jus cxiv tsang jêx jaol phuôv tsangr bluô nux.</a:t>
            </a: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457200" algn="just">
              <a:buNone/>
            </a:pPr>
            <a:r>
              <a:rPr lang="pt-BR" sz="2800" dirty="0">
                <a:effectLst/>
                <a:latin typeface="Times New Roman" panose="02020603050405020304" pitchFamily="18" charset="0"/>
                <a:ea typeface="Times New Roman" panose="02020603050405020304" pitchFamily="18" charset="0"/>
                <a:cs typeface="Times New Roman" panose="02020603050405020304" pitchFamily="18" charset="0"/>
              </a:rPr>
              <a:t> Tsôngv baox Hmôngz yangx six shênhx jông Đangv haz côx chuôz lê cêr chei, phuôx lix, uô cê cxiv tsang haz paor vêv zis zis tâu shênhv phưx.</a:t>
            </a: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r">
              <a:lnSpc>
                <a:spcPct val="150000"/>
              </a:lnSpc>
            </a:pPr>
            <a:r>
              <a:rPr lang="en-US" sz="1800" i="1" dirty="0" err="1">
                <a:effectLst/>
                <a:latin typeface="Times New Roman" panose="02020603050405020304" pitchFamily="18" charset="0"/>
                <a:ea typeface="Times New Roman" panose="02020603050405020304" pitchFamily="18" charset="0"/>
                <a:cs typeface="Times New Roman" panose="02020603050405020304" pitchFamily="18" charset="0"/>
              </a:rPr>
              <a:t>Nrar</a:t>
            </a: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dirty="0" err="1">
                <a:effectLst/>
                <a:latin typeface="Times New Roman" panose="02020603050405020304" pitchFamily="18" charset="0"/>
                <a:ea typeface="Times New Roman" panose="02020603050405020304" pitchFamily="18" charset="0"/>
                <a:cs typeface="Times New Roman" panose="02020603050405020304" pitchFamily="18" charset="0"/>
              </a:rPr>
              <a:t>sâu:Vangx</a:t>
            </a: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dirty="0" err="1">
                <a:effectLst/>
                <a:latin typeface="Times New Roman" panose="02020603050405020304" pitchFamily="18" charset="0"/>
                <a:ea typeface="Times New Roman" panose="02020603050405020304" pitchFamily="18" charset="0"/>
                <a:cs typeface="Times New Roman" panose="02020603050405020304" pitchFamily="18" charset="0"/>
              </a:rPr>
              <a:t>Lênhx</a:t>
            </a:r>
            <a:endParaRPr lang="en-US" sz="2000" dirty="0">
              <a:effectLst/>
              <a:latin typeface="UVnTime"/>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5934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1DE13-C4E2-F980-181F-354AEACCBD62}"/>
            </a:ext>
          </a:extLst>
        </p:cNvPr>
        <p:cNvGrpSpPr/>
        <p:nvPr/>
      </p:nvGrpSpPr>
      <p:grpSpPr>
        <a:xfrm>
          <a:off x="0" y="0"/>
          <a:ext cx="0" cy="0"/>
          <a:chOff x="0" y="0"/>
          <a:chExt cx="0" cy="0"/>
        </a:xfrm>
      </p:grpSpPr>
      <p:pic>
        <p:nvPicPr>
          <p:cNvPr id="3" name="Picture 2" descr="Graphical user interface, application&#10;&#10;Description automatically generated">
            <a:extLst>
              <a:ext uri="{FF2B5EF4-FFF2-40B4-BE49-F238E27FC236}">
                <a16:creationId xmlns:a16="http://schemas.microsoft.com/office/drawing/2014/main" id="{96E9144A-FB7A-3FBD-5D58-1C381D9BE5B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8554"/>
          <a:stretch/>
        </p:blipFill>
        <p:spPr>
          <a:xfrm>
            <a:off x="-55052" y="-267292"/>
            <a:ext cx="12191980" cy="6856718"/>
          </a:xfrm>
          <a:prstGeom prst="rect">
            <a:avLst/>
          </a:prstGeom>
        </p:spPr>
      </p:pic>
      <p:pic>
        <p:nvPicPr>
          <p:cNvPr id="5" name="Picture 4" descr="Diagram&#10;&#10;Description automatically generated">
            <a:extLst>
              <a:ext uri="{FF2B5EF4-FFF2-40B4-BE49-F238E27FC236}">
                <a16:creationId xmlns:a16="http://schemas.microsoft.com/office/drawing/2014/main" id="{321CA925-BB5C-E5C2-A619-F16171A2ACC8}"/>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9984" b="93048" l="9994" r="89942">
                        <a14:foregroundMark x1="40589" y1="92199" x2="39327" y2="87874"/>
                        <a14:foregroundMark x1="69049" y1="93048" x2="69049" y2="92603"/>
                      </a14:backgroundRemoval>
                    </a14:imgEffect>
                  </a14:imgLayer>
                </a14:imgProps>
              </a:ext>
              <a:ext uri="{28A0092B-C50C-407E-A947-70E740481C1C}">
                <a14:useLocalDpi xmlns:a14="http://schemas.microsoft.com/office/drawing/2010/main" val="0"/>
              </a:ext>
            </a:extLst>
          </a:blip>
          <a:stretch>
            <a:fillRect/>
          </a:stretch>
        </p:blipFill>
        <p:spPr>
          <a:xfrm>
            <a:off x="7660968" y="3792794"/>
            <a:ext cx="5702095" cy="3504082"/>
          </a:xfrm>
          <a:prstGeom prst="rect">
            <a:avLst/>
          </a:prstGeom>
        </p:spPr>
      </p:pic>
      <p:pic>
        <p:nvPicPr>
          <p:cNvPr id="6" name="Picture 23">
            <a:extLst>
              <a:ext uri="{FF2B5EF4-FFF2-40B4-BE49-F238E27FC236}">
                <a16:creationId xmlns:a16="http://schemas.microsoft.com/office/drawing/2014/main" id="{FDF6CFF4-C852-F625-1D15-10BDD2649B38}"/>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5683244" y="1654199"/>
            <a:ext cx="5889521" cy="2809568"/>
          </a:xfrm>
          <a:prstGeom prst="rect">
            <a:avLst/>
          </a:prstGeom>
        </p:spPr>
      </p:pic>
      <p:sp>
        <p:nvSpPr>
          <p:cNvPr id="9" name="TextBox 8">
            <a:extLst>
              <a:ext uri="{FF2B5EF4-FFF2-40B4-BE49-F238E27FC236}">
                <a16:creationId xmlns:a16="http://schemas.microsoft.com/office/drawing/2014/main" id="{DC710F92-656E-1FB5-6CB8-8220D92D39F2}"/>
              </a:ext>
            </a:extLst>
          </p:cNvPr>
          <p:cNvSpPr txBox="1"/>
          <p:nvPr/>
        </p:nvSpPr>
        <p:spPr>
          <a:xfrm>
            <a:off x="5695335" y="2268682"/>
            <a:ext cx="5314337" cy="1200329"/>
          </a:xfrm>
          <a:prstGeom prst="rect">
            <a:avLst/>
          </a:prstGeom>
          <a:noFill/>
        </p:spPr>
        <p:txBody>
          <a:bodyPr wrap="square">
            <a:spAutoFit/>
          </a:bodyPr>
          <a:lstStyle/>
          <a:p>
            <a:pPr lvl="0" algn="ctr"/>
            <a:r>
              <a:rPr lang="en-US" sz="3600" b="1" dirty="0">
                <a:solidFill>
                  <a:srgbClr val="0070C0"/>
                </a:solidFill>
                <a:latin typeface="Calibri" panose="020F0502020204030204" pitchFamily="34" charset="0"/>
                <a:ea typeface="Calibri" panose="020F0502020204030204" pitchFamily="34" charset="0"/>
                <a:cs typeface="Calibri" panose="020F0502020204030204" pitchFamily="34" charset="0"/>
              </a:rPr>
              <a:t>Chia </a:t>
            </a:r>
            <a:r>
              <a:rPr lang="en-US" sz="3600" b="1" dirty="0" err="1">
                <a:solidFill>
                  <a:srgbClr val="0070C0"/>
                </a:solidFill>
                <a:latin typeface="Calibri" panose="020F0502020204030204" pitchFamily="34" charset="0"/>
                <a:ea typeface="Calibri" panose="020F0502020204030204" pitchFamily="34" charset="0"/>
                <a:cs typeface="Calibri" panose="020F0502020204030204" pitchFamily="34" charset="0"/>
              </a:rPr>
              <a:t>sẻ</a:t>
            </a:r>
            <a:r>
              <a:rPr lang="en-US" sz="3600" b="1" dirty="0">
                <a:solidFill>
                  <a:srgbClr val="0070C0"/>
                </a:solidFill>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0070C0"/>
                </a:solidFill>
                <a:latin typeface="Calibri" panose="020F0502020204030204" pitchFamily="34" charset="0"/>
                <a:ea typeface="Calibri" panose="020F0502020204030204" pitchFamily="34" charset="0"/>
                <a:cs typeface="Calibri" panose="020F0502020204030204" pitchFamily="34" charset="0"/>
              </a:rPr>
              <a:t>với</a:t>
            </a:r>
            <a:r>
              <a:rPr lang="en-US" sz="3600" b="1" dirty="0">
                <a:solidFill>
                  <a:srgbClr val="0070C0"/>
                </a:solidFill>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0070C0"/>
                </a:solidFill>
                <a:latin typeface="Calibri" panose="020F0502020204030204" pitchFamily="34" charset="0"/>
                <a:ea typeface="Calibri" panose="020F0502020204030204" pitchFamily="34" charset="0"/>
                <a:cs typeface="Calibri" panose="020F0502020204030204" pitchFamily="34" charset="0"/>
              </a:rPr>
              <a:t>bạn</a:t>
            </a:r>
            <a:r>
              <a:rPr lang="en-US" sz="3600" b="1" dirty="0">
                <a:solidFill>
                  <a:srgbClr val="0070C0"/>
                </a:solidFill>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0070C0"/>
                </a:solidFill>
                <a:latin typeface="Calibri" panose="020F0502020204030204" pitchFamily="34" charset="0"/>
                <a:ea typeface="Calibri" panose="020F0502020204030204" pitchFamily="34" charset="0"/>
                <a:cs typeface="Calibri" panose="020F0502020204030204" pitchFamily="34" charset="0"/>
              </a:rPr>
              <a:t>và</a:t>
            </a:r>
            <a:r>
              <a:rPr lang="en-US" sz="3600" b="1" dirty="0">
                <a:solidFill>
                  <a:srgbClr val="0070C0"/>
                </a:solidFill>
                <a:latin typeface="Calibri" panose="020F0502020204030204" pitchFamily="34" charset="0"/>
                <a:ea typeface="Calibri" panose="020F0502020204030204" pitchFamily="34" charset="0"/>
                <a:cs typeface="Calibri" panose="020F0502020204030204" pitchFamily="34" charset="0"/>
              </a:rPr>
              <a:t> ng</a:t>
            </a:r>
            <a:r>
              <a:rPr lang="vi-VN" sz="3600" b="1" dirty="0">
                <a:solidFill>
                  <a:srgbClr val="0070C0"/>
                </a:solidFill>
                <a:latin typeface="Calibri" panose="020F0502020204030204" pitchFamily="34" charset="0"/>
                <a:ea typeface="Calibri" panose="020F0502020204030204" pitchFamily="34" charset="0"/>
                <a:cs typeface="Calibri" panose="020F0502020204030204" pitchFamily="34" charset="0"/>
              </a:rPr>
              <a:t>ười</a:t>
            </a:r>
            <a:r>
              <a:rPr lang="en-US" sz="3600" b="1" dirty="0">
                <a:solidFill>
                  <a:srgbClr val="0070C0"/>
                </a:solidFill>
                <a:latin typeface="Calibri" panose="020F0502020204030204" pitchFamily="34" charset="0"/>
                <a:ea typeface="Calibri" panose="020F0502020204030204" pitchFamily="34" charset="0"/>
                <a:cs typeface="Calibri" panose="020F0502020204030204" pitchFamily="34" charset="0"/>
              </a:rPr>
              <a:t> </a:t>
            </a:r>
            <a:r>
              <a:rPr lang="en-US" sz="3600" b="1" dirty="0" err="1">
                <a:solidFill>
                  <a:srgbClr val="0070C0"/>
                </a:solidFill>
                <a:latin typeface="Calibri" panose="020F0502020204030204" pitchFamily="34" charset="0"/>
                <a:ea typeface="Calibri" panose="020F0502020204030204" pitchFamily="34" charset="0"/>
                <a:cs typeface="Calibri" panose="020F0502020204030204" pitchFamily="34" charset="0"/>
              </a:rPr>
              <a:t>thân</a:t>
            </a:r>
            <a:endParaRPr kumimoji="0" lang="en-US" sz="3600" b="1"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10" name="Picture 18">
            <a:extLst>
              <a:ext uri="{FF2B5EF4-FFF2-40B4-BE49-F238E27FC236}">
                <a16:creationId xmlns:a16="http://schemas.microsoft.com/office/drawing/2014/main" id="{BBC6B711-63F4-645C-8815-95BC9B7DFF1E}"/>
              </a:ext>
            </a:extLst>
          </p:cNvPr>
          <p:cNvPicPr>
            <a:picLocks noChangeAspect="1"/>
          </p:cNvPicPr>
          <p:nvPr/>
        </p:nvPicPr>
        <p:blipFill>
          <a:blip r:embed="rId7"/>
          <a:srcRect/>
          <a:stretch>
            <a:fillRect/>
          </a:stretch>
        </p:blipFill>
        <p:spPr>
          <a:xfrm>
            <a:off x="1801762" y="320150"/>
            <a:ext cx="4011561" cy="2415050"/>
          </a:xfrm>
          <a:prstGeom prst="rect">
            <a:avLst/>
          </a:prstGeom>
        </p:spPr>
      </p:pic>
      <p:pic>
        <p:nvPicPr>
          <p:cNvPr id="11" name="Picture 18">
            <a:extLst>
              <a:ext uri="{FF2B5EF4-FFF2-40B4-BE49-F238E27FC236}">
                <a16:creationId xmlns:a16="http://schemas.microsoft.com/office/drawing/2014/main" id="{0137113B-CC2E-51EB-FEB3-7D3E68707F58}"/>
              </a:ext>
            </a:extLst>
          </p:cNvPr>
          <p:cNvPicPr>
            <a:picLocks noChangeAspect="1"/>
          </p:cNvPicPr>
          <p:nvPr/>
        </p:nvPicPr>
        <p:blipFill>
          <a:blip r:embed="rId7"/>
          <a:srcRect/>
          <a:stretch>
            <a:fillRect/>
          </a:stretch>
        </p:blipFill>
        <p:spPr>
          <a:xfrm>
            <a:off x="112973" y="3161067"/>
            <a:ext cx="5570271" cy="3695651"/>
          </a:xfrm>
          <a:prstGeom prst="rect">
            <a:avLst/>
          </a:prstGeom>
        </p:spPr>
      </p:pic>
      <p:sp>
        <p:nvSpPr>
          <p:cNvPr id="13" name="TextBox 12">
            <a:extLst>
              <a:ext uri="{FF2B5EF4-FFF2-40B4-BE49-F238E27FC236}">
                <a16:creationId xmlns:a16="http://schemas.microsoft.com/office/drawing/2014/main" id="{8C2418D1-947C-BB39-6EE2-7DE488999286}"/>
              </a:ext>
            </a:extLst>
          </p:cNvPr>
          <p:cNvSpPr txBox="1"/>
          <p:nvPr/>
        </p:nvSpPr>
        <p:spPr>
          <a:xfrm>
            <a:off x="2235632" y="1353377"/>
            <a:ext cx="3143819" cy="1754326"/>
          </a:xfrm>
          <a:prstGeom prst="rect">
            <a:avLst/>
          </a:prstGeom>
          <a:noFill/>
        </p:spPr>
        <p:txBody>
          <a:bodyPr wrap="square" rtlCol="0">
            <a:spAutoFit/>
          </a:bodyPr>
          <a:lstStyle/>
          <a:p>
            <a:pPr lvl="0" algn="ctr"/>
            <a:r>
              <a:rPr lang="en-US" sz="3600" dirty="0" err="1">
                <a:solidFill>
                  <a:prstClr val="black"/>
                </a:solidFill>
                <a:latin typeface="Cambria" panose="02040503050406030204" pitchFamily="18" charset="0"/>
                <a:ea typeface="Cambria" panose="02040503050406030204" pitchFamily="18" charset="0"/>
              </a:rPr>
              <a:t>Đôi</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nét</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về</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quê</a:t>
            </a:r>
            <a:r>
              <a:rPr lang="en-US" sz="3600" dirty="0">
                <a:solidFill>
                  <a:prstClr val="black"/>
                </a:solidFill>
                <a:latin typeface="Cambria" panose="02040503050406030204" pitchFamily="18" charset="0"/>
                <a:ea typeface="Cambria" panose="02040503050406030204" pitchFamily="18" charset="0"/>
              </a:rPr>
              <a:t> h</a:t>
            </a:r>
            <a:r>
              <a:rPr lang="vi-VN" sz="3600" dirty="0">
                <a:solidFill>
                  <a:prstClr val="black"/>
                </a:solidFill>
                <a:latin typeface="Cambria" panose="02040503050406030204" pitchFamily="18" charset="0"/>
                <a:ea typeface="Cambria" panose="02040503050406030204" pitchFamily="18" charset="0"/>
              </a:rPr>
              <a:t>ương</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của</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mình</a:t>
            </a:r>
            <a:r>
              <a:rPr lang="en-US" sz="3600" dirty="0">
                <a:solidFill>
                  <a:prstClr val="black"/>
                </a:solidFill>
                <a:latin typeface="Cambria" panose="02040503050406030204" pitchFamily="18" charset="0"/>
                <a:ea typeface="Cambria" panose="02040503050406030204" pitchFamily="18" charset="0"/>
              </a:rPr>
              <a:t>.</a:t>
            </a:r>
            <a:endParaRPr kumimoji="0" lang="en-US" sz="36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endParaRPr>
          </a:p>
        </p:txBody>
      </p:sp>
      <p:sp>
        <p:nvSpPr>
          <p:cNvPr id="14" name="TextBox 13">
            <a:extLst>
              <a:ext uri="{FF2B5EF4-FFF2-40B4-BE49-F238E27FC236}">
                <a16:creationId xmlns:a16="http://schemas.microsoft.com/office/drawing/2014/main" id="{290E6E54-CB72-A57B-65A2-22E6B780452F}"/>
              </a:ext>
            </a:extLst>
          </p:cNvPr>
          <p:cNvSpPr txBox="1"/>
          <p:nvPr/>
        </p:nvSpPr>
        <p:spPr>
          <a:xfrm>
            <a:off x="852744" y="3891613"/>
            <a:ext cx="4090731" cy="1754326"/>
          </a:xfrm>
          <a:prstGeom prst="rect">
            <a:avLst/>
          </a:prstGeom>
          <a:noFill/>
        </p:spPr>
        <p:txBody>
          <a:bodyPr wrap="square" rtlCol="0">
            <a:spAutoFit/>
          </a:bodyPr>
          <a:lstStyle/>
          <a:p>
            <a:pPr lvl="0" algn="ctr"/>
            <a:r>
              <a:rPr lang="en-US" sz="3600" dirty="0" err="1">
                <a:solidFill>
                  <a:prstClr val="black"/>
                </a:solidFill>
                <a:latin typeface="Cambria" panose="02040503050406030204" pitchFamily="18" charset="0"/>
                <a:ea typeface="Cambria" panose="02040503050406030204" pitchFamily="18" charset="0"/>
              </a:rPr>
              <a:t>Quê</a:t>
            </a:r>
            <a:r>
              <a:rPr lang="en-US" sz="3600" dirty="0">
                <a:solidFill>
                  <a:prstClr val="black"/>
                </a:solidFill>
                <a:latin typeface="Cambria" panose="02040503050406030204" pitchFamily="18" charset="0"/>
                <a:ea typeface="Cambria" panose="02040503050406030204" pitchFamily="18" charset="0"/>
              </a:rPr>
              <a:t> h</a:t>
            </a:r>
            <a:r>
              <a:rPr lang="vi-VN" sz="3600" dirty="0">
                <a:solidFill>
                  <a:prstClr val="black"/>
                </a:solidFill>
                <a:latin typeface="Cambria" panose="02040503050406030204" pitchFamily="18" charset="0"/>
                <a:ea typeface="Cambria" panose="02040503050406030204" pitchFamily="18" charset="0"/>
              </a:rPr>
              <a:t>ương</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có</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những</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đặc</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sản</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đặc</a:t>
            </a:r>
            <a:r>
              <a:rPr lang="en-US" sz="3600" dirty="0">
                <a:solidFill>
                  <a:prstClr val="black"/>
                </a:solidFill>
                <a:latin typeface="Cambria" panose="02040503050406030204" pitchFamily="18" charset="0"/>
                <a:ea typeface="Cambria" panose="02040503050406030204" pitchFamily="18" charset="0"/>
              </a:rPr>
              <a:t> tr</a:t>
            </a:r>
            <a:r>
              <a:rPr lang="vi-VN" sz="3600" dirty="0">
                <a:solidFill>
                  <a:prstClr val="black"/>
                </a:solidFill>
                <a:latin typeface="Cambria" panose="02040503050406030204" pitchFamily="18" charset="0"/>
                <a:ea typeface="Cambria" panose="02040503050406030204" pitchFamily="18" charset="0"/>
              </a:rPr>
              <a:t>ưng</a:t>
            </a:r>
            <a:r>
              <a:rPr lang="en-US" sz="3600" dirty="0">
                <a:solidFill>
                  <a:prstClr val="black"/>
                </a:solidFill>
                <a:latin typeface="Cambria" panose="02040503050406030204" pitchFamily="18" charset="0"/>
                <a:ea typeface="Cambria" panose="02040503050406030204" pitchFamily="18" charset="0"/>
              </a:rPr>
              <a:t> </a:t>
            </a:r>
            <a:r>
              <a:rPr lang="en-US" sz="3600" dirty="0" err="1">
                <a:solidFill>
                  <a:prstClr val="black"/>
                </a:solidFill>
                <a:latin typeface="Cambria" panose="02040503050406030204" pitchFamily="18" charset="0"/>
                <a:ea typeface="Cambria" panose="02040503050406030204" pitchFamily="18" charset="0"/>
              </a:rPr>
              <a:t>gì</a:t>
            </a:r>
            <a:r>
              <a:rPr lang="en-US" sz="3600" dirty="0">
                <a:solidFill>
                  <a:prstClr val="black"/>
                </a:solidFill>
                <a:latin typeface="Cambria" panose="02040503050406030204" pitchFamily="18" charset="0"/>
                <a:ea typeface="Cambria" panose="02040503050406030204" pitchFamily="18" charset="0"/>
              </a:rPr>
              <a:t>?.</a:t>
            </a:r>
            <a:endParaRPr kumimoji="0" lang="en-US" sz="36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00E33B2F-62F5-ED85-318E-45AE3573D3F9}"/>
              </a:ext>
            </a:extLst>
          </p:cNvPr>
          <p:cNvSpPr txBox="1"/>
          <p:nvPr/>
        </p:nvSpPr>
        <p:spPr>
          <a:xfrm>
            <a:off x="1162702" y="1506"/>
            <a:ext cx="4796077" cy="1077218"/>
          </a:xfrm>
          <a:prstGeom prst="rect">
            <a:avLst/>
          </a:prstGeom>
          <a:noFill/>
        </p:spPr>
        <p:txBody>
          <a:bodyPr wrap="square" rtlCol="0">
            <a:spAutoFit/>
          </a:bodyPr>
          <a:lstStyle/>
          <a:p>
            <a:pPr algn="ctr"/>
            <a:r>
              <a:rPr lang="en-US" sz="3200" b="1"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ÔN TẬP CHỦ ĐỀ: QUÊ H</a:t>
            </a:r>
            <a:r>
              <a:rPr lang="vi-VN" sz="3200" b="1"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ƯƠNG</a:t>
            </a:r>
            <a:r>
              <a:rPr lang="en-US" sz="3200" b="1"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 VÀ ĐẤT N</a:t>
            </a:r>
            <a:r>
              <a:rPr lang="vi-VN" sz="3200" b="1"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ƯỚC</a:t>
            </a:r>
            <a:endParaRPr lang="en-US" sz="3200" b="1"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98439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Scale>
                                      <p:cBhvr>
                                        <p:cTn id="7"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6"/>
                                        </p:tgtEl>
                                        <p:attrNameLst>
                                          <p:attrName>ppt_x</p:attrName>
                                          <p:attrName>ppt_y</p:attrName>
                                        </p:attrNameLst>
                                      </p:cBhvr>
                                    </p:animMotion>
                                    <p:animEffect transition="in" filter="fade">
                                      <p:cBhvr>
                                        <p:cTn id="9" dur="1000"/>
                                        <p:tgtEl>
                                          <p:spTgt spid="6"/>
                                        </p:tgtEl>
                                      </p:cBhvr>
                                    </p:animEffect>
                                  </p:childTnLst>
                                </p:cTn>
                              </p:par>
                              <p:par>
                                <p:cTn id="10" presetID="5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Scale>
                                      <p:cBhvr>
                                        <p:cTn id="12" dur="1000" decel="50000" fill="hold">
                                          <p:stCondLst>
                                            <p:cond delay="0"/>
                                          </p:stCondLst>
                                        </p:cTn>
                                        <p:tgtEl>
                                          <p:spTgt spid="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9"/>
                                        </p:tgtEl>
                                        <p:attrNameLst>
                                          <p:attrName>ppt_x</p:attrName>
                                          <p:attrName>ppt_y</p:attrName>
                                        </p:attrNameLst>
                                      </p:cBhvr>
                                    </p:animMotion>
                                    <p:animEffect transition="in" filter="fade">
                                      <p:cBhvr>
                                        <p:cTn id="14" dur="1000"/>
                                        <p:tgtEl>
                                          <p:spTgt spid="9"/>
                                        </p:tgtEl>
                                      </p:cBhvr>
                                    </p:animEffect>
                                  </p:childTnLst>
                                </p:cTn>
                              </p:par>
                              <p:par>
                                <p:cTn id="15" presetID="5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Scale>
                                      <p:cBhvr>
                                        <p:cTn id="17"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5"/>
                                        </p:tgtEl>
                                        <p:attrNameLst>
                                          <p:attrName>ppt_x</p:attrName>
                                          <p:attrName>ppt_y</p:attrName>
                                        </p:attrNameLst>
                                      </p:cBhvr>
                                    </p:animMotion>
                                    <p:animEffect transition="in" filter="fade">
                                      <p:cBhvr>
                                        <p:cTn id="19" dur="10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7D6FF5-22CC-1FBD-B1F9-48554D3A4468}"/>
              </a:ext>
            </a:extLst>
          </p:cNvPr>
          <p:cNvSpPr txBox="1"/>
          <p:nvPr/>
        </p:nvSpPr>
        <p:spPr>
          <a:xfrm>
            <a:off x="118533" y="0"/>
            <a:ext cx="11853334" cy="6907019"/>
          </a:xfrm>
          <a:prstGeom prst="rect">
            <a:avLst/>
          </a:prstGeom>
          <a:noFill/>
        </p:spPr>
        <p:txBody>
          <a:bodyPr wrap="square">
            <a:spAutoFit/>
          </a:bodyPr>
          <a:lstStyle/>
          <a:p>
            <a:pPr>
              <a:lnSpc>
                <a:spcPct val="107000"/>
              </a:lnSpc>
              <a:spcAft>
                <a:spcPts val="8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Suôz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Puôv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zaos</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iz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luz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shênhv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taox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saz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nhaoz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hâur</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xênhr</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Laol</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Caz .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Suôz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Puôv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muôx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ntâu</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jangv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jông</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gâux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xưk</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jaol</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Car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Car</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trôngz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saz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latin typeface="Times New Roman" panose="02020603050405020304" pitchFamily="18" charset="0"/>
                <a:ea typeface="Calibri" panose="020F0502020204030204" pitchFamily="34" charset="0"/>
                <a:cs typeface="Times New Roman" panose="02020603050405020304" pitchFamily="18" charset="0"/>
              </a:rPr>
              <a:t>P</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êz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chês</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ntux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trôngz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kraor</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jăngx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lax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kêz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nteir</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cheix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ntux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cuz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nhaoz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ntươv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nor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muôx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pang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ntux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cangx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hur</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langx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nzas</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Cheix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ntux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tsâux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păng</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ntux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laok</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six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nao</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phuôz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phôngz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taox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trôngz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hâur</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pêl</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haz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jêx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jaol</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muôx</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bu</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zênhl</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đơưz</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tangl</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têx</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hâur</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trôngz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Suôz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puôv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muôx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ntâu</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ntênhl</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phêv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xưk</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Ntênhl</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Grâuk</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Taox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ntênhl</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Chiv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lôngx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haz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cêr</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uô</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si</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xưk</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Ntâuk</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tux luz,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Ntâuk</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ntir</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caz</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gâux</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đrâus</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cxuô</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mênhx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cxưx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nhaoz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hâur</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shênhv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haz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đrâu</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shênhv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tuôx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ntênhl</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phêv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cêr</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uô</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si</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laok</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six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laol</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jêv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Shênhv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Suôz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Puôv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muôx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iz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luz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qươ</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ndis</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ntux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tsiv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grê</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tru</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cxuô</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lênhx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tuôx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cxangz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coangz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Zaos</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lênhx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tưs</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tưz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tâu</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tuôx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txus</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shênhv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Suôz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Puôv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mak</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zuôr</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ndu</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têr</a:t>
            </a: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tsi</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txơưx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hnaor</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kangz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viv</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têx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lênhx</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nênhs</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nhaoz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nor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laok</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six shir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shangz</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kruô</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29405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2663F51-9133-27B2-E707-31225D2AC379}"/>
              </a:ext>
            </a:extLst>
          </p:cNvPr>
          <p:cNvSpPr txBox="1"/>
          <p:nvPr/>
        </p:nvSpPr>
        <p:spPr>
          <a:xfrm>
            <a:off x="516466" y="335692"/>
            <a:ext cx="11159067" cy="6082819"/>
          </a:xfrm>
          <a:prstGeom prst="rect">
            <a:avLst/>
          </a:prstGeom>
          <a:noFill/>
        </p:spPr>
        <p:txBody>
          <a:bodyPr wrap="square">
            <a:spAutoFit/>
          </a:bodyPr>
          <a:lstStyle/>
          <a:p>
            <a:pPr>
              <a:lnSpc>
                <a:spcPct val="107000"/>
              </a:lnSpc>
              <a:spcAft>
                <a:spcPts val="800"/>
              </a:spcAft>
              <a:buNone/>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Sapa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một</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huyện</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Lào</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cai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Sapa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có</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nhiều</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cảnh</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đẹp</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như</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xã</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cát</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cát</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phanxipawng</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núi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hàm</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rồng</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ruộng</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bậc</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thang.Mùa</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hè</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ở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đây</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khí</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hậu</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trong</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lành</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mát</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mẻ</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thời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tiết</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mùa</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đông</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rất</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lạnh</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có</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mây</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mù</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che</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phủ</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núi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rừng</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bản</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làng</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có</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tuyết</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rơi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Sapa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tổ</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chức</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lễ</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hội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chờ</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chơi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như</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lễ</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hội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gầu</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tào</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ném</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còn,đánh</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quay,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chợ</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tình</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dân</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tộc</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trong</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ngoài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huyện</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đến</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tham</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gia</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lễ</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hội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rất</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đông</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vui</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Huyện</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Sapa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1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điểm</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du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lịch</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đáng</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để</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mọi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đến</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thăm</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quan</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Nếu</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ai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đã</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từng</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đến</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Sapa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thì</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sẽ</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không</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thể</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quên</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bởi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những</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con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người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nơi</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đây</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rất</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mến</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effectLst/>
                <a:latin typeface="Times New Roman" panose="02020603050405020304" pitchFamily="18" charset="0"/>
                <a:ea typeface="Calibri" panose="020F0502020204030204" pitchFamily="34" charset="0"/>
                <a:cs typeface="Times New Roman" panose="02020603050405020304" pitchFamily="18" charset="0"/>
              </a:rPr>
              <a:t>khách</a:t>
            </a: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0103816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63</TotalTime>
  <Words>1460</Words>
  <Application>Microsoft Office PowerPoint</Application>
  <PresentationFormat>Widescreen</PresentationFormat>
  <Paragraphs>48</Paragraphs>
  <Slides>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Cambria</vt:lpstr>
      <vt:lpstr>Times New Roman</vt:lpstr>
      <vt:lpstr>Trebuchet MS</vt:lpstr>
      <vt:lpstr>UVnTime</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Administrator</cp:lastModifiedBy>
  <cp:revision>7</cp:revision>
  <dcterms:created xsi:type="dcterms:W3CDTF">2025-04-11T07:27:09Z</dcterms:created>
  <dcterms:modified xsi:type="dcterms:W3CDTF">2025-05-10T01:09:10Z</dcterms:modified>
</cp:coreProperties>
</file>